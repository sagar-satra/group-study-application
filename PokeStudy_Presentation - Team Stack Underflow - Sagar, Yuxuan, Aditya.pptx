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0" r:id="rId5"/>
    <p:sldId id="273" r:id="rId6"/>
    <p:sldId id="275" r:id="rId7"/>
    <p:sldId id="260" r:id="rId8"/>
    <p:sldId id="274" r:id="rId9"/>
    <p:sldId id="276" r:id="rId10"/>
    <p:sldId id="262" r:id="rId11"/>
    <p:sldId id="263" r:id="rId12"/>
    <p:sldId id="264" r:id="rId13"/>
    <p:sldId id="271" r:id="rId14"/>
    <p:sldId id="272" r:id="rId15"/>
    <p:sldId id="277" r:id="rId16"/>
    <p:sldId id="266" r:id="rId17"/>
    <p:sldId id="267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8F4D8-466E-F135-FBC7-FA48A31F92BB}" v="106" dt="2026-04-13T19:12:57.106"/>
    <p1510:client id="{0EDEEDC0-FABB-02DC-F13F-D2F2FC1B7CA1}" v="819" dt="2026-04-13T19:50:17.341"/>
    <p1510:client id="{141ADCF3-4D51-BCBB-21E8-B919B9E9B7F4}" v="3" dt="2026-04-13T21:00:04.084"/>
    <p1510:client id="{212CE98F-534F-7EE9-71C6-E9666481E971}" v="33" dt="2026-04-14T03:45:48.431"/>
    <p1510:client id="{27FE9E53-DFF5-9F7E-4A79-735F5A06C8CE}" v="86" dt="2026-04-13T03:26:26.679"/>
    <p1510:client id="{2B005223-28F8-9BB0-A07B-D9FB7AD847B1}" v="8" dt="2026-04-13T21:00:20.453"/>
    <p1510:client id="{3BF2D3B4-B8BC-8501-4BA1-C20CF39E925E}" v="1986" dt="2026-04-13T18:35:38.627"/>
    <p1510:client id="{509F2DDD-1A5A-BA32-BEC0-DDA6EF4CDF00}" v="5" dt="2026-04-13T21:00:58.484"/>
    <p1510:client id="{90571A45-6E5E-BC45-1779-A9EDD9C36AD5}" v="1750" dt="2026-04-13T14:48:12.932"/>
    <p1510:client id="{995E695F-055A-4F0F-AC3A-DC195EA30435}" v="841" dt="2026-04-13T19:02:29.794"/>
    <p1510:client id="{B58F1AEB-2304-4654-4708-7EDE574D490F}" v="396" dt="2026-04-13T23:48:22.170"/>
    <p1510:client id="{C00BCE5C-8AE0-2AA0-53C1-D3CB65C5B383}" v="1819" dt="2026-04-13T17:01:37.284"/>
    <p1510:client id="{F84E356E-F0E4-D186-C4A5-4C00C8ED1E05}" v="313" dt="2026-04-13T03:04:09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2FA23-3BBA-4359-B914-E94E09CD2044}" type="datetimeFigureOut"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559CA-7083-4B2E-9CEB-FCF58DA0AD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5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EB24-F0F3-DBAD-51D7-D33D41D9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7FBA4-3CD3-5AE8-F1E7-BCB4575E7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E53A2-6868-A072-6646-747E7CF7E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70D0-28AF-ED0A-87F6-200F7F019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44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5F35-D72C-6CAE-1BFA-1D824616C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461AA-E2B0-2E71-DC5F-6E8293F9A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EC7B4-7E1C-7543-01A8-D91EE80DF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04BE9-ED74-6898-95FF-012DA3B6D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63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507D-5817-9806-7310-826A2A92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31C13-6C5C-CCFC-2729-2D7A9B647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40A55-F724-A2E0-D94A-8A7352BFF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38C31-4FB4-16E7-3D93-F39747869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83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amification_of_learn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rontiersin.org/journals/psychology/articles/10.3389/fpsyg.2023.1253549/full" TargetMode="External"/><Relationship Id="rId4" Type="http://schemas.openxmlformats.org/officeDocument/2006/relationships/hyperlink" Target="https://en.wikipedia.org/wiki/Active_learnin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PokéStudy</a:t>
            </a:r>
            <a:endParaRPr lang="en-US" sz="600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>
                <a:solidFill>
                  <a:srgbClr val="CADCFC"/>
                </a:solidFill>
                <a:latin typeface="Arial"/>
                <a:ea typeface="Arial" pitchFamily="34" charset="-122"/>
                <a:cs typeface="Arial"/>
              </a:rPr>
              <a:t>Pokémon Themed Group Study Application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i="1">
                <a:solidFill>
                  <a:srgbClr val="CADCFC"/>
                </a:solidFill>
              </a:rPr>
              <a:t>INFO6205 - Final Project Presentation – By Team "Stack Underflow"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CADEF44-B378-E8DF-01CE-5999F71E9AA6}"/>
              </a:ext>
            </a:extLst>
          </p:cNvPr>
          <p:cNvSpPr/>
          <p:nvPr/>
        </p:nvSpPr>
        <p:spPr>
          <a:xfrm>
            <a:off x="459698" y="3108086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i="1" dirty="0">
                <a:solidFill>
                  <a:srgbClr val="FFCB05"/>
                </a:solidFill>
              </a:rPr>
              <a:t>Gamifying Your Study Sessions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34121E-E0E1-63A1-E47D-3E6B6AD8A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76200" y="-427533"/>
            <a:ext cx="2073015" cy="2063646"/>
          </a:xfrm>
          <a:prstGeom prst="rect">
            <a:avLst/>
          </a:prstGeom>
        </p:spPr>
      </p:pic>
      <p:pic>
        <p:nvPicPr>
          <p:cNvPr id="10" name="Picture 9" descr="A cartoon character of a pokemon&#10;&#10;AI-generated content may be incorrect.">
            <a:extLst>
              <a:ext uri="{FF2B5EF4-FFF2-40B4-BE49-F238E27FC236}">
                <a16:creationId xmlns:a16="http://schemas.microsoft.com/office/drawing/2014/main" id="{8AC4CDB0-B556-9438-AEFF-805B26CDE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260454" y="3079541"/>
            <a:ext cx="2082384" cy="2063646"/>
          </a:xfrm>
          <a:prstGeom prst="rect">
            <a:avLst/>
          </a:prstGeom>
        </p:spPr>
      </p:pic>
      <p:pic>
        <p:nvPicPr>
          <p:cNvPr id="12" name="Picture 11" descr="A cartoon character of a yellow animal&#10;&#10;AI-generated content may be incorrect.">
            <a:extLst>
              <a:ext uri="{FF2B5EF4-FFF2-40B4-BE49-F238E27FC236}">
                <a16:creationId xmlns:a16="http://schemas.microsoft.com/office/drawing/2014/main" id="{4B3C8515-86B8-2CE0-C60A-D7EC8C42E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398" y="-183943"/>
            <a:ext cx="2091752" cy="2091752"/>
          </a:xfrm>
          <a:prstGeom prst="rect">
            <a:avLst/>
          </a:prstGeom>
        </p:spPr>
      </p:pic>
      <p:pic>
        <p:nvPicPr>
          <p:cNvPr id="13" name="Picture 12" descr="A cartoon of a blue turtle&#10;&#10;AI-generated content may be incorrect.">
            <a:extLst>
              <a:ext uri="{FF2B5EF4-FFF2-40B4-BE49-F238E27FC236}">
                <a16:creationId xmlns:a16="http://schemas.microsoft.com/office/drawing/2014/main" id="{8BC577B9-3760-C9B4-038B-E9D458543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2636" y="3220073"/>
            <a:ext cx="1941851" cy="192311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4B35A74-3447-AE46-3620-22C62001EDCB}"/>
              </a:ext>
            </a:extLst>
          </p:cNvPr>
          <p:cNvSpPr/>
          <p:nvPr/>
        </p:nvSpPr>
        <p:spPr>
          <a:xfrm>
            <a:off x="2401229" y="3587781"/>
            <a:ext cx="4341541" cy="826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 b="1" i="1" dirty="0">
                <a:solidFill>
                  <a:schemeClr val="bg1"/>
                </a:solidFill>
              </a:rPr>
              <a:t>Team Members:</a:t>
            </a:r>
            <a:br>
              <a:rPr lang="en-US" sz="1200" b="1" i="1" dirty="0">
                <a:solidFill>
                  <a:schemeClr val="bg1"/>
                </a:solidFill>
              </a:rPr>
            </a:br>
            <a:r>
              <a:rPr lang="en-US" sz="1200" i="1" dirty="0">
                <a:solidFill>
                  <a:schemeClr val="bg1"/>
                </a:solidFill>
              </a:rPr>
              <a:t>Sagar Satra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  <a:ea typeface="Calibri"/>
                <a:cs typeface="Calibri"/>
              </a:rPr>
              <a:t>Yuxuan Chen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  <a:ea typeface="Calibri"/>
                <a:cs typeface="Calibri"/>
              </a:rPr>
              <a:t>Aditya </a:t>
            </a:r>
            <a:r>
              <a:rPr lang="en-US" sz="1200" i="1" dirty="0" err="1">
                <a:solidFill>
                  <a:schemeClr val="bg1"/>
                </a:solidFill>
                <a:ea typeface="Calibri"/>
                <a:cs typeface="Calibri"/>
              </a:rPr>
              <a:t>Yendhe</a:t>
            </a:r>
            <a:endParaRPr lang="en-US" sz="12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7121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AutoNum type="arabicPeriod"/>
            </a:pPr>
            <a:r>
              <a:rPr lang="en-US" b="1">
                <a:solidFill>
                  <a:srgbClr val="1E2761"/>
                </a:solidFill>
              </a:rPr>
              <a:t>Problem Description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20277"/>
            <a:ext cx="38404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Challenge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0987" y="1354361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0987" y="135436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721027" y="1241935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212121"/>
                </a:solidFill>
              </a:rPr>
              <a:t>Students struggle with self-discipline when studying remotely</a:t>
            </a:r>
            <a:endParaRPr lang="en-US" sz="1300">
              <a:solidFill>
                <a:srgbClr val="212121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987" y="1948721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0987" y="194872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2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721027" y="1836295"/>
            <a:ext cx="3520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212121"/>
                </a:solidFill>
              </a:rPr>
              <a:t>Lack of accountability when studying alone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00987" y="2543081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0987" y="254308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3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721027" y="2430655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12121"/>
                </a:solidFill>
              </a:rPr>
              <a:t>No engaging way to track study progress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00987" y="3137441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0987" y="31374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4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721027" y="3025015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12121"/>
                </a:solidFill>
              </a:rPr>
              <a:t>Difficult to maintain motivation over time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00987" y="3731801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0987" y="37318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5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721027" y="3619375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12121"/>
                </a:solidFill>
              </a:rPr>
              <a:t>Limited social connection in virtual study environments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607446" y="551638"/>
            <a:ext cx="1767715" cy="393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761"/>
                </a:solidFill>
              </a:rPr>
              <a:t>Our Solution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67897" y="1053434"/>
            <a:ext cx="4718903" cy="3427126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3539" y="1048937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2761"/>
                </a:solidFill>
              </a:rPr>
              <a:t>PokéStudy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4103934" y="1475783"/>
            <a:ext cx="4399986" cy="2648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212121"/>
                </a:solidFill>
              </a:rPr>
              <a:t>A gamified group study platform that combines </a:t>
            </a:r>
            <a:r>
              <a:rPr lang="en-US" sz="1300" b="1">
                <a:solidFill>
                  <a:srgbClr val="F96167"/>
                </a:solidFill>
              </a:rPr>
              <a:t>Pokemon evolution mechanics</a:t>
            </a:r>
            <a:r>
              <a:rPr lang="en-US" sz="1300">
                <a:solidFill>
                  <a:srgbClr val="212121"/>
                </a:solidFill>
              </a:rPr>
              <a:t> with </a:t>
            </a:r>
            <a:r>
              <a:rPr lang="en-US" sz="1300" b="1">
                <a:solidFill>
                  <a:srgbClr val="3B4CCA"/>
                </a:solidFill>
              </a:rPr>
              <a:t>virtual study rooms</a:t>
            </a:r>
            <a:r>
              <a:rPr lang="en-US" sz="1300">
                <a:solidFill>
                  <a:srgbClr val="212121"/>
                </a:solidFill>
              </a:rPr>
              <a:t> to create an engaging, accountable study environment.</a:t>
            </a:r>
          </a:p>
          <a:p>
            <a:endParaRPr lang="en-US" sz="1300">
              <a:solidFill>
                <a:srgbClr val="212121"/>
              </a:solidFill>
            </a:endParaRPr>
          </a:p>
          <a:p>
            <a:r>
              <a:rPr lang="en-US" sz="1300" b="1">
                <a:solidFill>
                  <a:srgbClr val="3B4CCA"/>
                </a:solidFill>
              </a:rPr>
              <a:t>✓ Real-time group accountability</a:t>
            </a:r>
            <a:br>
              <a:rPr lang="en-US" sz="1300" b="1">
                <a:solidFill>
                  <a:srgbClr val="3B4CCA"/>
                </a:solidFill>
              </a:rPr>
            </a:br>
            <a:r>
              <a:rPr lang="en-US" sz="1300" b="1">
                <a:solidFill>
                  <a:srgbClr val="3B4CCA"/>
                </a:solidFill>
              </a:rPr>
              <a:t> ✓ Gamified study incentives</a:t>
            </a:r>
            <a:br>
              <a:rPr lang="en-US" sz="1300" b="1">
                <a:solidFill>
                  <a:srgbClr val="3B4CCA"/>
                </a:solidFill>
              </a:rPr>
            </a:br>
            <a:r>
              <a:rPr lang="en-US" sz="1300" b="1">
                <a:solidFill>
                  <a:srgbClr val="3B4CCA"/>
                </a:solidFill>
              </a:rPr>
              <a:t> ✓ Visual progress tracking</a:t>
            </a:r>
            <a:br>
              <a:rPr lang="en-US" sz="1300" b="1">
                <a:solidFill>
                  <a:srgbClr val="3B4CCA"/>
                </a:solidFill>
              </a:rPr>
            </a:br>
            <a:r>
              <a:rPr lang="en-US" sz="1300" b="1">
                <a:solidFill>
                  <a:srgbClr val="3B4CCA"/>
                </a:solidFill>
              </a:rPr>
              <a:t> ✓ Pokémon evolution rewards</a:t>
            </a:r>
            <a:br>
              <a:rPr lang="en-US" sz="1300" b="1">
                <a:solidFill>
                  <a:srgbClr val="3B4CCA"/>
                </a:solidFill>
              </a:rPr>
            </a:br>
            <a:r>
              <a:rPr lang="en-US" sz="1300" b="1">
                <a:solidFill>
                  <a:srgbClr val="3B4CCA"/>
                </a:solidFill>
              </a:rPr>
              <a:t> ✓ Distraction-free study rooms</a:t>
            </a:r>
            <a:br>
              <a:rPr lang="en-US" sz="1300" b="1">
                <a:solidFill>
                  <a:srgbClr val="3B4CCA"/>
                </a:solidFill>
              </a:rPr>
            </a:br>
            <a:r>
              <a:rPr lang="en-US" sz="1300" b="1">
                <a:solidFill>
                  <a:srgbClr val="3B4CCA"/>
                </a:solidFill>
              </a:rPr>
              <a:t> ✓ Consistency-based achievements</a:t>
            </a:r>
          </a:p>
          <a:p>
            <a:endParaRPr lang="en-US" sz="1300">
              <a:solidFill>
                <a:srgbClr val="212121"/>
              </a:solidFill>
              <a:ea typeface="Calibri"/>
              <a:cs typeface="Calibri"/>
            </a:endParaRPr>
          </a:p>
          <a:p>
            <a:endParaRPr lang="en-US" sz="1300">
              <a:solidFill>
                <a:srgbClr val="21212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2. Analysis &amp; Research - Project Topic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69823" y="11887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144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b="1">
                <a:solidFill>
                  <a:srgbClr val="F96167"/>
                </a:solidFill>
              </a:rPr>
              <a:t>Gamification in Learning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1440" y="2098997"/>
            <a:ext cx="2286000" cy="9889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Improves </a:t>
            </a:r>
            <a:r>
              <a:rPr lang="en-US" sz="1100">
                <a:solidFill>
                  <a:srgbClr val="212121"/>
                </a:solidFill>
              </a:rPr>
              <a:t>engagement and motivation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1100">
                <a:solidFill>
                  <a:srgbClr val="212121"/>
                </a:solidFill>
              </a:rPr>
              <a:t>• Uses rewards and progression to sustain effort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95903" y="11887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78783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b="1">
                <a:solidFill>
                  <a:srgbClr val="FFCB05"/>
                </a:solidFill>
              </a:rPr>
              <a:t>Accountability &amp; Group Study</a:t>
            </a: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78783" y="2239530"/>
            <a:ext cx="2286000" cy="8390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Peer visibility increases consistency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Collaborative environments improve outcomes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10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21983" y="11887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4863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b="1">
                <a:solidFill>
                  <a:srgbClr val="F96167"/>
                </a:solidFill>
              </a:rPr>
              <a:t>Focus &amp; Study Behavior</a:t>
            </a:r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E0F922DE-6952-3F4C-5974-5785D3CD2A0C}"/>
              </a:ext>
            </a:extLst>
          </p:cNvPr>
          <p:cNvSpPr/>
          <p:nvPr/>
        </p:nvSpPr>
        <p:spPr>
          <a:xfrm>
            <a:off x="6308235" y="2183315"/>
            <a:ext cx="2286000" cy="8297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• Students</a:t>
            </a:r>
            <a:r>
              <a:rPr lang="en-US" sz="1100">
                <a:solidFill>
                  <a:srgbClr val="212121"/>
                </a:solidFill>
              </a:rPr>
              <a:t> struggle with solo focus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1100">
                <a:solidFill>
                  <a:srgbClr val="212121"/>
                </a:solidFill>
              </a:rPr>
              <a:t>• Structured environments improved discipline</a:t>
            </a:r>
            <a:endParaRPr lang="en-US" sz="1100" err="1">
              <a:solidFill>
                <a:srgbClr val="000000"/>
              </a:solidFill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2152FD1-8182-BD1A-6D91-FF82B78D6AC7}"/>
              </a:ext>
            </a:extLst>
          </p:cNvPr>
          <p:cNvSpPr/>
          <p:nvPr/>
        </p:nvSpPr>
        <p:spPr>
          <a:xfrm>
            <a:off x="269822" y="3438744"/>
            <a:ext cx="8229600" cy="1026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1E2761"/>
                </a:solidFill>
              </a:rPr>
              <a:t>References: </a:t>
            </a:r>
            <a:endParaRPr lang="en-US" sz="140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n-US" sz="1400">
                <a:solidFill>
                  <a:srgbClr val="1E2761"/>
                </a:solidFill>
                <a:ea typeface="+mn-lt"/>
                <a:cs typeface="+mn-lt"/>
                <a:hlinkClick r:id="rId3"/>
              </a:rPr>
              <a:t>https://en.wikipedia.org/wiki/Gamification_of_learning</a:t>
            </a:r>
            <a:endParaRPr lang="en-US" sz="1400" b="1">
              <a:solidFill>
                <a:srgbClr val="1E276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400">
                <a:solidFill>
                  <a:srgbClr val="1E2761"/>
                </a:solidFill>
                <a:ea typeface="+mn-lt"/>
                <a:cs typeface="+mn-lt"/>
                <a:hlinkClick r:id="rId4"/>
              </a:rPr>
              <a:t>https://en.wikipedia.org/wiki/Active_learning</a:t>
            </a:r>
            <a:endParaRPr lang="en-US" sz="1400">
              <a:solidFill>
                <a:srgbClr val="1E276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400">
                <a:solidFill>
                  <a:srgbClr val="1E2761"/>
                </a:solidFill>
                <a:ea typeface="+mn-lt"/>
                <a:cs typeface="+mn-lt"/>
                <a:hlinkClick r:id="rId5"/>
              </a:rPr>
              <a:t>https://www.frontiersin.org/journals/psychology/articles/10.3389/fpsyg.2023.1253549/full</a:t>
            </a:r>
            <a:endParaRPr lang="en-US" sz="1400">
              <a:solidFill>
                <a:srgbClr val="1E276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US" sz="1400">
              <a:solidFill>
                <a:srgbClr val="1E276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EADC-EE3E-EA19-F6F7-DD2D6C37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3620FC-83F0-9508-6FD8-A712653007D8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2. Analysis - Technology Perspective</a:t>
            </a:r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58F460-11B8-D6F1-CB90-488429E13760}"/>
              </a:ext>
            </a:extLst>
          </p:cNvPr>
          <p:cNvSpPr/>
          <p:nvPr/>
        </p:nvSpPr>
        <p:spPr>
          <a:xfrm>
            <a:off x="452703" y="11139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4CCA"/>
                </a:solidFill>
              </a:rPr>
              <a:t>• JavaFX:</a:t>
            </a:r>
            <a:endParaRPr lang="en-US"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545FE5-BB7C-2BD7-1651-54B7A4BA307A}"/>
              </a:ext>
            </a:extLst>
          </p:cNvPr>
          <p:cNvSpPr/>
          <p:nvPr/>
        </p:nvSpPr>
        <p:spPr>
          <a:xfrm>
            <a:off x="1915743" y="116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Modern UI with CSS styling, smooth animations for Pokemon evolution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E779AF7-21F9-EE16-1948-FBE1D0065C1F}"/>
              </a:ext>
            </a:extLst>
          </p:cNvPr>
          <p:cNvSpPr/>
          <p:nvPr/>
        </p:nvSpPr>
        <p:spPr>
          <a:xfrm>
            <a:off x="448438" y="1564957"/>
            <a:ext cx="1375865" cy="2913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3B4CCA"/>
                </a:solidFill>
              </a:rPr>
              <a:t>•</a:t>
            </a:r>
            <a:r>
              <a:rPr lang="en-US" sz="1300" b="1">
                <a:solidFill>
                  <a:srgbClr val="3B4CCA"/>
                </a:solidFill>
                <a:ea typeface="+mn-lt"/>
                <a:cs typeface="+mn-lt"/>
              </a:rPr>
              <a:t> Custom data structur</a:t>
            </a:r>
            <a:r>
              <a:rPr lang="en-US" sz="1300" b="1">
                <a:solidFill>
                  <a:srgbClr val="3B4CCA"/>
                </a:solidFill>
              </a:rPr>
              <a:t>es:</a:t>
            </a:r>
            <a:endParaRPr lang="en-US" sz="13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D382FD-D66A-3D65-AD17-983D03FC33DC}"/>
              </a:ext>
            </a:extLst>
          </p:cNvPr>
          <p:cNvSpPr/>
          <p:nvPr/>
        </p:nvSpPr>
        <p:spPr>
          <a:xfrm>
            <a:off x="1915743" y="1590550"/>
            <a:ext cx="6584191" cy="265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212121"/>
                </a:solidFill>
                <a:ea typeface="+mn-lt"/>
                <a:cs typeface="+mn-lt"/>
              </a:rPr>
              <a:t>UserStore</a:t>
            </a:r>
            <a:r>
              <a:rPr lang="en-US" sz="1200">
                <a:solidFill>
                  <a:srgbClr val="212121"/>
                </a:solidFill>
                <a:ea typeface="+mn-lt"/>
                <a:cs typeface="+mn-lt"/>
              </a:rPr>
              <a:t> manages all user sessions, authentication, and state using our own ADT implementations instead of relying on external databases</a:t>
            </a:r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44C1C6-5AF8-611D-4A6B-64B16B9D4466}"/>
              </a:ext>
            </a:extLst>
          </p:cNvPr>
          <p:cNvSpPr/>
          <p:nvPr/>
        </p:nvSpPr>
        <p:spPr>
          <a:xfrm>
            <a:off x="640080" y="4752492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b="1">
              <a:solidFill>
                <a:srgbClr val="3B4CCA"/>
              </a:solidFill>
              <a:ea typeface="Calibri"/>
              <a:cs typeface="Calibri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7750406E-41F2-85BC-B3E4-802FCB2C179C}"/>
              </a:ext>
            </a:extLst>
          </p:cNvPr>
          <p:cNvSpPr/>
          <p:nvPr/>
        </p:nvSpPr>
        <p:spPr>
          <a:xfrm>
            <a:off x="439068" y="2117719"/>
            <a:ext cx="1375865" cy="2913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3B4CCA"/>
                </a:solidFill>
              </a:rPr>
              <a:t>•</a:t>
            </a:r>
            <a:r>
              <a:rPr lang="en-US" sz="1300" b="1">
                <a:solidFill>
                  <a:srgbClr val="3B4CCA"/>
                </a:solidFill>
                <a:ea typeface="+mn-lt"/>
                <a:cs typeface="+mn-lt"/>
              </a:rPr>
              <a:t> Use of </a:t>
            </a:r>
            <a:r>
              <a:rPr lang="en-US" sz="1300" b="1">
                <a:solidFill>
                  <a:srgbClr val="3B4CCA"/>
                </a:solidFill>
              </a:rPr>
              <a:t>Design Pattern:</a:t>
            </a:r>
            <a:endParaRPr lang="en-US" sz="1300"/>
          </a:p>
        </p:txBody>
      </p:sp>
      <p:sp>
        <p:nvSpPr>
          <p:cNvPr id="4" name="Text 17">
            <a:extLst>
              <a:ext uri="{FF2B5EF4-FFF2-40B4-BE49-F238E27FC236}">
                <a16:creationId xmlns:a16="http://schemas.microsoft.com/office/drawing/2014/main" id="{E8C5027D-FCDC-2361-6011-17F139615DD0}"/>
              </a:ext>
            </a:extLst>
          </p:cNvPr>
          <p:cNvSpPr/>
          <p:nvPr/>
        </p:nvSpPr>
        <p:spPr>
          <a:xfrm>
            <a:off x="1897004" y="1993412"/>
            <a:ext cx="6584191" cy="5468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212121"/>
                </a:solidFill>
                <a:ea typeface="+mn-lt"/>
                <a:cs typeface="+mn-lt"/>
              </a:rPr>
              <a:t>Use of Singleton design pattern to initialize some services only once and sharing their instances across application for efficient data tracking and state maintenance </a:t>
            </a:r>
            <a:endParaRPr lang="en-US" sz="1200" err="1">
              <a:solidFill>
                <a:srgbClr val="212121"/>
              </a:solidFill>
              <a:ea typeface="Calibri"/>
              <a:cs typeface="Calibri"/>
            </a:endParaRPr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EDF7AECB-E44D-4ACF-D5EF-FA6985240149}"/>
              </a:ext>
            </a:extLst>
          </p:cNvPr>
          <p:cNvSpPr/>
          <p:nvPr/>
        </p:nvSpPr>
        <p:spPr>
          <a:xfrm>
            <a:off x="429700" y="2633005"/>
            <a:ext cx="1375865" cy="2913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3B4CCA"/>
                </a:solidFill>
              </a:rPr>
              <a:t>•</a:t>
            </a:r>
            <a:r>
              <a:rPr lang="en-US" sz="1300" b="1">
                <a:solidFill>
                  <a:srgbClr val="3B4CCA"/>
                </a:solidFill>
                <a:ea typeface="+mn-lt"/>
                <a:cs typeface="+mn-lt"/>
              </a:rPr>
              <a:t> Maven</a:t>
            </a:r>
            <a:r>
              <a:rPr lang="en-US" sz="1300" b="1">
                <a:solidFill>
                  <a:srgbClr val="3B4CCA"/>
                </a:solidFill>
              </a:rPr>
              <a:t> Build:</a:t>
            </a:r>
            <a:endParaRPr lang="en-US" sz="130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C6E78885-4E49-1EC7-69CD-964E739BFA5B}"/>
              </a:ext>
            </a:extLst>
          </p:cNvPr>
          <p:cNvSpPr/>
          <p:nvPr/>
        </p:nvSpPr>
        <p:spPr>
          <a:xfrm>
            <a:off x="1897005" y="2658598"/>
            <a:ext cx="6584191" cy="265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212121"/>
                </a:solidFill>
                <a:ea typeface="Calibri"/>
                <a:cs typeface="Calibri"/>
              </a:rPr>
              <a:t>We selecting Maven architecture for better management of dependencies and feature installations</a:t>
            </a: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AB55C265-F193-D08F-E200-BAB440E97FAF}"/>
              </a:ext>
            </a:extLst>
          </p:cNvPr>
          <p:cNvSpPr/>
          <p:nvPr/>
        </p:nvSpPr>
        <p:spPr>
          <a:xfrm>
            <a:off x="438358" y="3043814"/>
            <a:ext cx="1375865" cy="6377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3B4CCA"/>
                </a:solidFill>
              </a:rPr>
              <a:t>•</a:t>
            </a:r>
            <a:r>
              <a:rPr lang="en-US" sz="1300" b="1">
                <a:solidFill>
                  <a:srgbClr val="3B4CCA"/>
                </a:solidFill>
                <a:ea typeface="+mn-lt"/>
                <a:cs typeface="+mn-lt"/>
              </a:rPr>
              <a:t> </a:t>
            </a:r>
            <a:r>
              <a:rPr lang="en-US" sz="1300" b="1">
                <a:solidFill>
                  <a:srgbClr val="3B4CCA"/>
                </a:solidFill>
              </a:rPr>
              <a:t>Service Oriented Architecture:</a:t>
            </a:r>
            <a:endParaRPr lang="en-US" sz="130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059E8EA0-F92D-B22F-F79C-1A44B47D0A60}"/>
              </a:ext>
            </a:extLst>
          </p:cNvPr>
          <p:cNvSpPr/>
          <p:nvPr/>
        </p:nvSpPr>
        <p:spPr>
          <a:xfrm>
            <a:off x="1904675" y="3048254"/>
            <a:ext cx="6588026" cy="5112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212121"/>
                </a:solidFill>
                <a:ea typeface="Calibri"/>
                <a:cs typeface="Calibri"/>
              </a:rPr>
              <a:t>Relying on Mode, View (UI) and Service architecture for better segregation of code as per industry practices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960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859" y="140624"/>
            <a:ext cx="8229600" cy="3148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3. Design: Application Architecture </a:t>
            </a:r>
            <a:r>
              <a:rPr lang="en-US">
                <a:solidFill>
                  <a:srgbClr val="000000"/>
                </a:solidFill>
              </a:rPr>
              <a:t>- </a:t>
            </a:r>
            <a:r>
              <a:rPr lang="en-US" sz="1600" b="1">
                <a:solidFill>
                  <a:srgbClr val="F96167"/>
                </a:solidFill>
              </a:rPr>
              <a:t>Service-Oriented Architecture</a:t>
            </a:r>
            <a:endParaRPr lang="en-US" sz="1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663006"/>
            <a:ext cx="7863840" cy="943067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669868"/>
            <a:ext cx="7863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PRESENTATION / UI LAYER / View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974964"/>
            <a:ext cx="7498080" cy="3855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JavaFX UI Classes (Root Package):  Login UI | Lobby UI | Register UI | Room Search UI | Room Creation UI | Study Room UI | Trophy Collection UI | </a:t>
            </a:r>
            <a:r>
              <a:rPr lang="en-US" sz="1200" err="1">
                <a:solidFill>
                  <a:schemeClr val="bg1"/>
                </a:solidFill>
              </a:rPr>
              <a:t>Pokemon</a:t>
            </a:r>
            <a:r>
              <a:rPr lang="en-US" sz="1200">
                <a:solidFill>
                  <a:schemeClr val="bg1"/>
                </a:solidFill>
              </a:rPr>
              <a:t> Card UI | Participant Card UI | Notification Popup | User Profile UI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3889" y="1362215"/>
            <a:ext cx="7498080" cy="2410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 err="1">
                <a:solidFill>
                  <a:schemeClr val="bg1"/>
                </a:solidFill>
              </a:rPr>
              <a:t>LeaderboardView.fxml</a:t>
            </a:r>
            <a:r>
              <a:rPr lang="en-US" sz="1200">
                <a:solidFill>
                  <a:schemeClr val="bg1"/>
                </a:solidFill>
              </a:rPr>
              <a:t> + LeaderboardController.java (the only controller) + leaderboard.css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978214"/>
            <a:ext cx="7863840" cy="793917"/>
          </a:xfrm>
          <a:prstGeom prst="roundRect">
            <a:avLst>
              <a:gd name="adj" fmla="val 6667"/>
            </a:avLst>
          </a:prstGeom>
          <a:solidFill>
            <a:srgbClr val="3B4CCA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8466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SERVICE LAYER (Business Logic)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806054" y="2282340"/>
            <a:ext cx="7505915" cy="4635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  <a:ea typeface="Calibri"/>
                <a:cs typeface="Calibri"/>
              </a:rPr>
              <a:t>Auth Service | DataInitializer | Leaderboard Service | Notification Service | </a:t>
            </a:r>
            <a:r>
              <a:rPr lang="en-US" sz="1200" err="1">
                <a:solidFill>
                  <a:srgbClr val="FFFFFF"/>
                </a:solidFill>
                <a:ea typeface="Calibri"/>
                <a:cs typeface="Calibri"/>
              </a:rPr>
              <a:t>Pokemon</a:t>
            </a:r>
            <a:r>
              <a:rPr lang="en-US" sz="1200">
                <a:solidFill>
                  <a:srgbClr val="FFFFFF"/>
                </a:solidFill>
                <a:ea typeface="Calibri"/>
                <a:cs typeface="Calibri"/>
              </a:rPr>
              <a:t> Service |Room Manager | Study Timer | User Store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" y="3142211"/>
            <a:ext cx="3808912" cy="912948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53196"/>
            <a:ext cx="3808912" cy="337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MODEL LAYER (Data Classes)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822960" y="3627813"/>
            <a:ext cx="3633652" cy="1734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User | Study Room | </a:t>
            </a:r>
            <a:r>
              <a:rPr lang="en-US" sz="1100" err="1">
                <a:solidFill>
                  <a:srgbClr val="FFFFFF"/>
                </a:solidFill>
              </a:rPr>
              <a:t>Pokemon</a:t>
            </a:r>
            <a:r>
              <a:rPr lang="en-US" sz="1100">
                <a:solidFill>
                  <a:srgbClr val="FFFFFF"/>
                </a:solidFill>
              </a:rPr>
              <a:t> | Trophy | Notification | Action Record | </a:t>
            </a:r>
            <a:r>
              <a:rPr lang="en-US" sz="1100" err="1">
                <a:solidFill>
                  <a:srgbClr val="FFFFFF"/>
                </a:solidFill>
              </a:rPr>
              <a:t>LeaderboardEntry</a:t>
            </a:r>
            <a:r>
              <a:rPr lang="en-US" sz="1100">
                <a:solidFill>
                  <a:srgbClr val="FFFFFF"/>
                </a:solidFill>
              </a:rPr>
              <a:t> | (Plain POJOs with getters/setters)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34509" y="4193970"/>
            <a:ext cx="2696756" cy="8305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35960" y="4222127"/>
            <a:ext cx="2584995" cy="3189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761"/>
                </a:solidFill>
              </a:rPr>
              <a:t>ADT LAYER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35960" y="4496013"/>
            <a:ext cx="1305923" cy="473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AutoNum type="arabicPeriod"/>
            </a:pPr>
            <a:r>
              <a:rPr lang="en-US" sz="9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Bag Interface</a:t>
            </a:r>
          </a:p>
          <a:p>
            <a:pPr marL="228600" indent="-228600">
              <a:buAutoNum type="arabicPeriod"/>
            </a:pPr>
            <a:r>
              <a:rPr lang="en-US" sz="9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List Interface</a:t>
            </a:r>
          </a:p>
          <a:p>
            <a:pPr marL="228600" indent="-228600">
              <a:buAutoNum type="arabicPeriod"/>
            </a:pPr>
            <a:r>
              <a:rPr lang="en-US" sz="9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Map Interface</a:t>
            </a:r>
          </a:p>
        </p:txBody>
      </p:sp>
      <p:sp>
        <p:nvSpPr>
          <p:cNvPr id="24" name="Shape 22"/>
          <p:cNvSpPr/>
          <p:nvPr/>
        </p:nvSpPr>
        <p:spPr>
          <a:xfrm>
            <a:off x="4429214" y="1617568"/>
            <a:ext cx="321443" cy="370906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3A219291-0C8D-6C24-623D-B3D0D1021359}"/>
              </a:ext>
            </a:extLst>
          </p:cNvPr>
          <p:cNvSpPr/>
          <p:nvPr/>
        </p:nvSpPr>
        <p:spPr>
          <a:xfrm>
            <a:off x="4564986" y="3150756"/>
            <a:ext cx="3930467" cy="90315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CA74C0F9-E3B8-AD90-39AB-A9FAC77EF224}"/>
              </a:ext>
            </a:extLst>
          </p:cNvPr>
          <p:cNvSpPr/>
          <p:nvPr/>
        </p:nvSpPr>
        <p:spPr>
          <a:xfrm>
            <a:off x="4732180" y="3111253"/>
            <a:ext cx="3623490" cy="4550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E2761"/>
                </a:solidFill>
                <a:ea typeface="Calibri"/>
                <a:cs typeface="Calibri"/>
              </a:rPr>
              <a:t>IMPLEMENTATION (DATA STRUCTURES)</a:t>
            </a:r>
            <a:endParaRPr lang="en-US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1D5221A9-B95F-E012-46E2-DE8C7700CFC4}"/>
              </a:ext>
            </a:extLst>
          </p:cNvPr>
          <p:cNvSpPr/>
          <p:nvPr/>
        </p:nvSpPr>
        <p:spPr>
          <a:xfrm>
            <a:off x="4784149" y="3489084"/>
            <a:ext cx="1841138" cy="6999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AutoNum type="arabicPeriod"/>
            </a:pPr>
            <a:r>
              <a:rPr lang="en-US" sz="9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Resizable Array Bag</a:t>
            </a:r>
          </a:p>
          <a:p>
            <a:pPr marL="228600" indent="-228600">
              <a:buAutoNum type="arabicPeriod"/>
            </a:pPr>
            <a:r>
              <a:rPr lang="en-US" sz="900" err="1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ArrayList</a:t>
            </a:r>
            <a:r>
              <a:rPr lang="en-US" sz="9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 Implementation</a:t>
            </a:r>
          </a:p>
          <a:p>
            <a:pPr marL="228600" indent="-228600">
              <a:buAutoNum type="arabicPeriod"/>
            </a:pPr>
            <a:r>
              <a:rPr lang="en-US" sz="90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HashMap Implementation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B4502F-F832-0050-9879-A9002ACBA324}"/>
              </a:ext>
            </a:extLst>
          </p:cNvPr>
          <p:cNvSpPr txBox="1"/>
          <p:nvPr/>
        </p:nvSpPr>
        <p:spPr>
          <a:xfrm>
            <a:off x="6431643" y="3487964"/>
            <a:ext cx="1886857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rgbClr val="212121"/>
                </a:solidFill>
                <a:latin typeface="Calibri"/>
                <a:ea typeface="Arial"/>
                <a:cs typeface="Arial"/>
              </a:rPr>
              <a:t>4.     </a:t>
            </a:r>
            <a:r>
              <a:rPr lang="en-US" sz="900" baseline="0">
                <a:solidFill>
                  <a:srgbClr val="212121"/>
                </a:solidFill>
                <a:latin typeface="Calibri"/>
                <a:ea typeface="Arial"/>
                <a:cs typeface="Arial"/>
              </a:rPr>
              <a:t>Queue Implementation</a:t>
            </a:r>
            <a:r>
              <a:rPr lang="en-US" sz="900">
                <a:latin typeface="Calibri"/>
                <a:ea typeface="Arial"/>
                <a:cs typeface="Arial"/>
              </a:rPr>
              <a:t>​</a:t>
            </a:r>
            <a:endParaRPr lang="en-US">
              <a:latin typeface="Calibri"/>
              <a:ea typeface="Calibri" panose="020F0502020204030204"/>
              <a:cs typeface="Calibri" panose="020F0502020204030204"/>
            </a:endParaRPr>
          </a:p>
          <a:p>
            <a:r>
              <a:rPr lang="en-US" sz="900">
                <a:solidFill>
                  <a:srgbClr val="212121"/>
                </a:solidFill>
                <a:latin typeface="Calibri"/>
                <a:ea typeface="Arial"/>
                <a:cs typeface="Arial"/>
              </a:rPr>
              <a:t>5.     </a:t>
            </a:r>
            <a:r>
              <a:rPr lang="en-US" sz="900" baseline="0">
                <a:solidFill>
                  <a:srgbClr val="212121"/>
                </a:solidFill>
                <a:latin typeface="Calibri"/>
                <a:ea typeface="Arial"/>
                <a:cs typeface="Arial"/>
              </a:rPr>
              <a:t>Sorting Implementation</a:t>
            </a:r>
            <a:r>
              <a:rPr lang="en-US" sz="900">
                <a:latin typeface="Calibri"/>
                <a:ea typeface="Arial"/>
                <a:cs typeface="Arial"/>
              </a:rPr>
              <a:t>​</a:t>
            </a:r>
            <a:endParaRPr lang="en-US">
              <a:latin typeface="Calibri"/>
              <a:ea typeface="Calibri" panose="020F0502020204030204"/>
              <a:cs typeface="Calibri" panose="020F0502020204030204"/>
            </a:endParaRPr>
          </a:p>
          <a:p>
            <a:r>
              <a:rPr lang="en-US" sz="900">
                <a:solidFill>
                  <a:srgbClr val="212121"/>
                </a:solidFill>
                <a:latin typeface="Calibri"/>
                <a:ea typeface="Arial"/>
                <a:cs typeface="Arial"/>
              </a:rPr>
              <a:t>6.     </a:t>
            </a:r>
            <a:r>
              <a:rPr lang="en-US" sz="900" baseline="0">
                <a:solidFill>
                  <a:srgbClr val="212121"/>
                </a:solidFill>
                <a:latin typeface="Calibri"/>
                <a:ea typeface="Arial"/>
                <a:cs typeface="Arial"/>
              </a:rPr>
              <a:t>LinkedList Implementation</a:t>
            </a:r>
            <a:r>
              <a:rPr lang="en-US" sz="900"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97B2F2-CF19-64AE-33DD-34B19FE96924}"/>
              </a:ext>
            </a:extLst>
          </p:cNvPr>
          <p:cNvSpPr txBox="1"/>
          <p:nvPr/>
        </p:nvSpPr>
        <p:spPr>
          <a:xfrm>
            <a:off x="4562929" y="4494893"/>
            <a:ext cx="1143001" cy="3784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rgbClr val="212121"/>
                </a:solidFill>
                <a:latin typeface="Calibri"/>
                <a:ea typeface="Arial"/>
                <a:cs typeface="Arial"/>
              </a:rPr>
              <a:t>4.    </a:t>
            </a:r>
            <a:r>
              <a:rPr lang="en-US" sz="900" baseline="0">
                <a:solidFill>
                  <a:srgbClr val="212121"/>
                </a:solidFill>
                <a:latin typeface="Calibri"/>
                <a:ea typeface="Arial"/>
                <a:cs typeface="Arial"/>
              </a:rPr>
              <a:t>Queue Interface</a:t>
            </a:r>
            <a:r>
              <a:rPr lang="en-US" sz="900">
                <a:latin typeface="Calibri"/>
                <a:ea typeface="Arial"/>
                <a:cs typeface="Arial"/>
              </a:rPr>
              <a:t>​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900">
                <a:solidFill>
                  <a:srgbClr val="212121"/>
                </a:solidFill>
                <a:latin typeface="Calibri"/>
                <a:ea typeface="Arial"/>
                <a:cs typeface="Arial"/>
              </a:rPr>
              <a:t>5.    </a:t>
            </a:r>
            <a:r>
              <a:rPr lang="en-US" sz="900" baseline="0">
                <a:solidFill>
                  <a:srgbClr val="212121"/>
                </a:solidFill>
                <a:latin typeface="Calibri"/>
                <a:ea typeface="Arial"/>
                <a:cs typeface="Arial"/>
              </a:rPr>
              <a:t>Sort Interface</a:t>
            </a:r>
            <a:endParaRPr lang="en-US" sz="900">
              <a:latin typeface="Calibri"/>
              <a:ea typeface="Arial"/>
              <a:cs typeface="Arial"/>
            </a:endParaRPr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3BECA84E-64A3-52C5-2750-A5B03C33DFB6}"/>
              </a:ext>
            </a:extLst>
          </p:cNvPr>
          <p:cNvSpPr/>
          <p:nvPr/>
        </p:nvSpPr>
        <p:spPr>
          <a:xfrm>
            <a:off x="2379070" y="2778710"/>
            <a:ext cx="321443" cy="370906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AB733A8F-5159-559C-61E8-DE7CFBCC8D6C}"/>
              </a:ext>
            </a:extLst>
          </p:cNvPr>
          <p:cNvSpPr/>
          <p:nvPr/>
        </p:nvSpPr>
        <p:spPr>
          <a:xfrm>
            <a:off x="6297928" y="2787782"/>
            <a:ext cx="321443" cy="370906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4B44559A-1833-DCDD-F582-C74F6B53FA06}"/>
              </a:ext>
            </a:extLst>
          </p:cNvPr>
          <p:cNvSpPr/>
          <p:nvPr/>
        </p:nvSpPr>
        <p:spPr>
          <a:xfrm rot="-3120000">
            <a:off x="2832642" y="3985211"/>
            <a:ext cx="303301" cy="643048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761AEB98-E582-6E60-5E5B-DDD800497999}"/>
              </a:ext>
            </a:extLst>
          </p:cNvPr>
          <p:cNvSpPr/>
          <p:nvPr/>
        </p:nvSpPr>
        <p:spPr>
          <a:xfrm rot="3480000">
            <a:off x="6143713" y="4021496"/>
            <a:ext cx="312372" cy="706548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359" y="97328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3. Design: System Design - </a:t>
            </a:r>
            <a:r>
              <a:rPr lang="en-US" sz="1400" b="1" i="1">
                <a:solidFill>
                  <a:srgbClr val="F96167"/>
                </a:solidFill>
              </a:rPr>
              <a:t>Multi-User Multi-Study Room System Architecture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02376" y="660170"/>
            <a:ext cx="8478634" cy="928947"/>
          </a:xfrm>
          <a:prstGeom prst="roundRect">
            <a:avLst>
              <a:gd name="adj" fmla="val 7692"/>
            </a:avLst>
          </a:prstGeom>
          <a:solidFill>
            <a:srgbClr val="00B050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1233" y="756458"/>
            <a:ext cx="8104216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bg1"/>
                </a:solidFill>
              </a:rPr>
              <a:t>JavaFX Application Layer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1233" y="1035628"/>
            <a:ext cx="3852603" cy="5226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chemeClr val="bg1"/>
                </a:solidFill>
              </a:rPr>
              <a:t>• Pure JavaFX UI classes (no FXML except Leaderboard)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chemeClr val="bg1"/>
                </a:solidFill>
              </a:rPr>
              <a:t>• Event-driven architecture with button handlers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2376" y="1986049"/>
            <a:ext cx="3363192" cy="1562099"/>
          </a:xfrm>
          <a:prstGeom prst="roundRect">
            <a:avLst>
              <a:gd name="adj" fmla="val 6667"/>
            </a:avLst>
          </a:prstGeom>
          <a:solidFill>
            <a:srgbClr val="3B4CCA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255" y="2065020"/>
            <a:ext cx="2832908" cy="2396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Service Layer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41960" y="2352848"/>
            <a:ext cx="1776499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FFFFFF"/>
                </a:solidFill>
              </a:rPr>
              <a:t>• </a:t>
            </a:r>
            <a:r>
              <a:rPr lang="en-US" sz="1000" err="1">
                <a:solidFill>
                  <a:srgbClr val="FFFFFF"/>
                </a:solidFill>
              </a:rPr>
              <a:t>Pokemon</a:t>
            </a:r>
            <a:r>
              <a:rPr lang="en-US" sz="1000">
                <a:solidFill>
                  <a:srgbClr val="FFFFFF"/>
                </a:solidFill>
              </a:rPr>
              <a:t> evolution logic</a:t>
            </a:r>
            <a:endParaRPr lang="en-US" sz="1000"/>
          </a:p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FFFFFF"/>
                </a:solidFill>
              </a:rPr>
              <a:t>• Room management</a:t>
            </a:r>
            <a:endParaRPr lang="en-US" sz="1000"/>
          </a:p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FFFFFF"/>
                </a:solidFill>
              </a:rPr>
              <a:t>• User authentication</a:t>
            </a:r>
            <a:endParaRPr lang="en-US" sz="1000">
              <a:solidFill>
                <a:srgbClr val="FFFFFF"/>
              </a:solidFill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FFFFFF"/>
                </a:solidFill>
              </a:rPr>
              <a:t>• Notification queueing</a:t>
            </a:r>
            <a:endParaRPr lang="en-US" sz="1000"/>
          </a:p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FFFFFF"/>
                </a:solidFill>
              </a:rPr>
              <a:t>• Merge sorting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763936" y="1986049"/>
            <a:ext cx="5051711" cy="15621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20837" y="2030384"/>
            <a:ext cx="3560271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In-Memory Data Structures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920836" y="2309552"/>
            <a:ext cx="2780954" cy="9739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MapInterface&lt;User, </a:t>
            </a: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RoomStatus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&gt; </a:t>
            </a: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userStatusMap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​ 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MapInterface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&lt;User, Long&gt; </a:t>
            </a: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studyTimeMap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​ 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MapInterface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&lt;String, User&gt; users​ 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MapInterface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&lt;String, String&gt; passwords;​ 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BagInterface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&lt;Trophy&gt; </a:t>
            </a: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trophyBag</a:t>
            </a:r>
            <a:endParaRPr lang="en-US" sz="1000" err="1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5473" y="3551612"/>
            <a:ext cx="889635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</a:rPr>
              <a:t>Key Design Characteristics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40080" y="3839442"/>
            <a:ext cx="7863840" cy="11488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</a:rPr>
              <a:t>Service layer handles ALL business logic except Leadership Controller</a:t>
            </a:r>
            <a:endParaRPr lang="en-US" b="1" dirty="0">
              <a:ea typeface="Calibri"/>
              <a:cs typeface="Calibri"/>
            </a:endParaRPr>
          </a:p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UI layer is pure JavaFX + CSS for Styling</a:t>
            </a:r>
          </a:p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Only 1 FXML file with controller: </a:t>
            </a:r>
            <a:r>
              <a:rPr lang="en-US" sz="1000" b="1" dirty="0" err="1">
                <a:solidFill>
                  <a:srgbClr val="212121"/>
                </a:solidFill>
                <a:ea typeface="Calibri"/>
                <a:cs typeface="Calibri"/>
              </a:rPr>
              <a:t>LeaderboardView.fxml</a:t>
            </a: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 + </a:t>
            </a:r>
            <a:r>
              <a:rPr lang="en-US" sz="1000" b="1" dirty="0" err="1">
                <a:solidFill>
                  <a:srgbClr val="212121"/>
                </a:solidFill>
                <a:ea typeface="Calibri"/>
                <a:cs typeface="Calibri"/>
              </a:rPr>
              <a:t>LeaderboardController</a:t>
            </a:r>
            <a:endParaRPr lang="en-US" sz="1000" b="1" dirty="0">
              <a:solidFill>
                <a:srgbClr val="212121"/>
              </a:solidFill>
              <a:ea typeface="Calibri"/>
              <a:cs typeface="Calibri"/>
            </a:endParaRPr>
          </a:p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Custom ADTs for various feature implementations</a:t>
            </a:r>
          </a:p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Concrete Implementation of these Custom ADTs store various data for application working</a:t>
            </a:r>
          </a:p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Merge Sort Algorithm for user stats sorting and displaying on Leaderboard</a:t>
            </a:r>
          </a:p>
          <a:p>
            <a:pPr marL="171450" indent="-171450">
              <a:buFont typeface="Wingdings"/>
              <a:buChar char="ü"/>
            </a:pPr>
            <a:r>
              <a:rPr lang="en-US" sz="1000" b="1" dirty="0">
                <a:solidFill>
                  <a:srgbClr val="212121"/>
                </a:solidFill>
                <a:ea typeface="Calibri"/>
                <a:cs typeface="Calibri"/>
              </a:rPr>
              <a:t>Leaderboard is sorted based on Trophy count. In case there is a tie between users, studied time is compared to rank the users.</a:t>
            </a:r>
          </a:p>
          <a:p>
            <a:endParaRPr lang="en-US" sz="1000" dirty="0">
              <a:solidFill>
                <a:srgbClr val="212121"/>
              </a:solidFill>
              <a:ea typeface="Calibri"/>
              <a:cs typeface="Calibri"/>
            </a:endParaRPr>
          </a:p>
          <a:p>
            <a:endParaRPr lang="en-US" sz="1000" dirty="0">
              <a:solidFill>
                <a:srgbClr val="212121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56955" y="1600200"/>
            <a:ext cx="365760" cy="370954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60D7066-E376-5F3E-2121-4C47DC854AB4}"/>
              </a:ext>
            </a:extLst>
          </p:cNvPr>
          <p:cNvSpPr/>
          <p:nvPr/>
        </p:nvSpPr>
        <p:spPr>
          <a:xfrm>
            <a:off x="4251959" y="1035627"/>
            <a:ext cx="3852603" cy="5053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chemeClr val="bg1"/>
                </a:solidFill>
              </a:rPr>
              <a:t>• Observer pattern for real-time UI updates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chemeClr val="bg1"/>
                </a:solidFill>
              </a:rPr>
              <a:t>• Timer threads using </a:t>
            </a:r>
            <a:r>
              <a:rPr lang="en-US" sz="1100" err="1">
                <a:solidFill>
                  <a:schemeClr val="bg1"/>
                </a:solidFill>
              </a:rPr>
              <a:t>ExecutorService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898C6BA2-50B8-DEE2-3B31-ABE5621D6FB9}"/>
              </a:ext>
            </a:extLst>
          </p:cNvPr>
          <p:cNvSpPr/>
          <p:nvPr/>
        </p:nvSpPr>
        <p:spPr>
          <a:xfrm>
            <a:off x="6182591" y="1608858"/>
            <a:ext cx="365760" cy="370954"/>
          </a:xfrm>
          <a:prstGeom prst="downArrow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D0AA636-3A33-BD6C-1071-7A02FF92B650}"/>
              </a:ext>
            </a:extLst>
          </p:cNvPr>
          <p:cNvSpPr/>
          <p:nvPr/>
        </p:nvSpPr>
        <p:spPr>
          <a:xfrm>
            <a:off x="2009255" y="2352847"/>
            <a:ext cx="1776499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Trophy Tracking</a:t>
            </a:r>
            <a:endParaRPr lang="en-US"/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Study Time Tracking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Room Time Tracking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Room Search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User Activity Tracking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endParaRPr lang="en-US" sz="10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C3F937E6-D782-679B-6B83-119EFFC4423B}"/>
              </a:ext>
            </a:extLst>
          </p:cNvPr>
          <p:cNvSpPr/>
          <p:nvPr/>
        </p:nvSpPr>
        <p:spPr>
          <a:xfrm>
            <a:off x="6492586" y="2309553"/>
            <a:ext cx="2131521" cy="10778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ListInterface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&lt;</a:t>
            </a: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ActionRecord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&gt; </a:t>
            </a:r>
            <a:r>
              <a:rPr lang="en-US" sz="1000" err="1">
                <a:solidFill>
                  <a:srgbClr val="FFFFFF"/>
                </a:solidFill>
                <a:ea typeface="Calibri"/>
                <a:cs typeface="Calibri"/>
              </a:rPr>
              <a:t>actionHistory</a:t>
            </a:r>
            <a:endParaRPr lang="en-US" sz="1000">
              <a:solidFill>
                <a:srgbClr val="FFFFFF"/>
              </a:solidFill>
              <a:ea typeface="Calibri"/>
              <a:cs typeface="Calibri"/>
            </a:endParaRP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+mn-lt"/>
                <a:cs typeface="+mn-lt"/>
              </a:rPr>
              <a:t>QueueInterface</a:t>
            </a: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&lt;Notification&gt; </a:t>
            </a:r>
            <a:r>
              <a:rPr lang="en-US" sz="1000" err="1">
                <a:solidFill>
                  <a:srgbClr val="FFFFFF"/>
                </a:solidFill>
                <a:ea typeface="+mn-lt"/>
                <a:cs typeface="+mn-lt"/>
              </a:rPr>
              <a:t>notificationQueue</a:t>
            </a:r>
            <a:endParaRPr lang="en-US" sz="1000">
              <a:solidFill>
                <a:srgbClr val="FFFFFF"/>
              </a:solidFill>
              <a:ea typeface="+mn-lt"/>
              <a:cs typeface="+mn-lt"/>
            </a:endParaRP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+mn-lt"/>
                <a:cs typeface="+mn-lt"/>
              </a:rPr>
              <a:t>MapInterface</a:t>
            </a: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&lt;String, </a:t>
            </a:r>
            <a:r>
              <a:rPr lang="en-US" sz="1000" err="1">
                <a:solidFill>
                  <a:srgbClr val="FFFFFF"/>
                </a:solidFill>
                <a:ea typeface="+mn-lt"/>
                <a:cs typeface="+mn-lt"/>
              </a:rPr>
              <a:t>StudyRoom</a:t>
            </a: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&gt; rooms</a:t>
            </a: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endParaRPr lang="en-US" sz="1000">
              <a:solidFill>
                <a:srgbClr val="FFFFFF"/>
              </a:solidFill>
              <a:ea typeface="+mn-lt"/>
              <a:cs typeface="+mn-lt"/>
            </a:endParaRPr>
          </a:p>
          <a:p>
            <a:pPr marL="171450" indent="-171450">
              <a:lnSpc>
                <a:spcPts val="1400"/>
              </a:lnSpc>
              <a:buFont typeface="Arial"/>
              <a:buChar char="•"/>
            </a:pPr>
            <a:endParaRPr lang="en-US" sz="1000">
              <a:solidFill>
                <a:srgbClr val="FFFF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696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713" y="265576"/>
            <a:ext cx="8791305" cy="2995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3. Design: Data Structures, Implementation, Use Cases and Efficiency Analysis</a:t>
            </a:r>
            <a:endParaRPr lang="en-US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6EC5C19-8CBB-1434-0E82-84D143DF3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156162"/>
              </p:ext>
            </p:extLst>
          </p:nvPr>
        </p:nvGraphicFramePr>
        <p:xfrm>
          <a:off x="154214" y="997857"/>
          <a:ext cx="8804875" cy="3340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7634">
                  <a:extLst>
                    <a:ext uri="{9D8B030D-6E8A-4147-A177-3AD203B41FA5}">
                      <a16:colId xmlns:a16="http://schemas.microsoft.com/office/drawing/2014/main" val="3571732584"/>
                    </a:ext>
                  </a:extLst>
                </a:gridCol>
                <a:gridCol w="2503712">
                  <a:extLst>
                    <a:ext uri="{9D8B030D-6E8A-4147-A177-3AD203B41FA5}">
                      <a16:colId xmlns:a16="http://schemas.microsoft.com/office/drawing/2014/main" val="3447079395"/>
                    </a:ext>
                  </a:extLst>
                </a:gridCol>
                <a:gridCol w="1873906">
                  <a:extLst>
                    <a:ext uri="{9D8B030D-6E8A-4147-A177-3AD203B41FA5}">
                      <a16:colId xmlns:a16="http://schemas.microsoft.com/office/drawing/2014/main" val="3616708528"/>
                    </a:ext>
                  </a:extLst>
                </a:gridCol>
                <a:gridCol w="1949623">
                  <a:extLst>
                    <a:ext uri="{9D8B030D-6E8A-4147-A177-3AD203B41FA5}">
                      <a16:colId xmlns:a16="http://schemas.microsoft.com/office/drawing/2014/main" val="2778285129"/>
                    </a:ext>
                  </a:extLst>
                </a:gridCol>
              </a:tblGrid>
              <a:tr h="422990">
                <a:tc>
                  <a:txBody>
                    <a:bodyPr/>
                    <a:lstStyle/>
                    <a:p>
                      <a:r>
                        <a:rPr lang="en-US" sz="140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Time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69436"/>
                  </a:ext>
                </a:extLst>
              </a:tr>
              <a:tr h="583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MapInterface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&lt;User,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RoomStatus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&gt;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userStatusMap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HashMapImplementation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Storing  users and Room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 (1) - Put, Remove, Get, Contains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01402"/>
                  </a:ext>
                </a:extLst>
              </a:tr>
              <a:tr h="583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MapInterface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&lt;User, Long&gt;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studyTimeMap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HashMapImplementation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Storing users and total study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(1) - Put, Remove, Get, Contains</a:t>
                      </a:r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445536"/>
                  </a:ext>
                </a:extLst>
              </a:tr>
              <a:tr h="583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MapInterface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&lt;String, User&gt; users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HashMapImplementation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Storing username and User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(1) - Put, Remove, Get, Contains</a:t>
                      </a:r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89459"/>
                  </a:ext>
                </a:extLst>
              </a:tr>
              <a:tr h="583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MapInterface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&lt;String, String&gt; passwords;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HashMapImplementation</a:t>
                      </a: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Storing username and hashed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(1) - Put, Remove, Get, Contains</a:t>
                      </a:r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74004"/>
                  </a:ext>
                </a:extLst>
              </a:tr>
              <a:tr h="5834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BagInterface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&lt;Trophy&gt;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trophyBag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ResizableArrayBag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&lt;Trophy&gt;();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Storing Trophy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O(1) - Add, O(n) - Other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00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B2819-42BC-2BEA-25C0-F82D8915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B2345F-597E-D4E5-5EBD-C1AD6DF59F01}"/>
              </a:ext>
            </a:extLst>
          </p:cNvPr>
          <p:cNvSpPr/>
          <p:nvPr/>
        </p:nvSpPr>
        <p:spPr>
          <a:xfrm>
            <a:off x="181785" y="247434"/>
            <a:ext cx="8791305" cy="2995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3. Design: Data Structures, Implementation, Use Cases and Efficiency Analysis</a:t>
            </a:r>
            <a:endParaRPr lang="en-US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ACC9BAF-B9EF-3D85-B566-B02BF08AD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694542"/>
              </p:ext>
            </p:extLst>
          </p:nvPr>
        </p:nvGraphicFramePr>
        <p:xfrm>
          <a:off x="155450" y="1071665"/>
          <a:ext cx="8804877" cy="332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352">
                  <a:extLst>
                    <a:ext uri="{9D8B030D-6E8A-4147-A177-3AD203B41FA5}">
                      <a16:colId xmlns:a16="http://schemas.microsoft.com/office/drawing/2014/main" val="3571732584"/>
                    </a:ext>
                  </a:extLst>
                </a:gridCol>
                <a:gridCol w="2468898">
                  <a:extLst>
                    <a:ext uri="{9D8B030D-6E8A-4147-A177-3AD203B41FA5}">
                      <a16:colId xmlns:a16="http://schemas.microsoft.com/office/drawing/2014/main" val="3447079395"/>
                    </a:ext>
                  </a:extLst>
                </a:gridCol>
                <a:gridCol w="2000004">
                  <a:extLst>
                    <a:ext uri="{9D8B030D-6E8A-4147-A177-3AD203B41FA5}">
                      <a16:colId xmlns:a16="http://schemas.microsoft.com/office/drawing/2014/main" val="3616708528"/>
                    </a:ext>
                  </a:extLst>
                </a:gridCol>
                <a:gridCol w="1949623">
                  <a:extLst>
                    <a:ext uri="{9D8B030D-6E8A-4147-A177-3AD203B41FA5}">
                      <a16:colId xmlns:a16="http://schemas.microsoft.com/office/drawing/2014/main" val="2778285129"/>
                    </a:ext>
                  </a:extLst>
                </a:gridCol>
              </a:tblGrid>
              <a:tr h="443366">
                <a:tc>
                  <a:txBody>
                    <a:bodyPr/>
                    <a:lstStyle/>
                    <a:p>
                      <a:r>
                        <a:rPr lang="en-US" sz="140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Time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69436"/>
                  </a:ext>
                </a:extLst>
              </a:tr>
              <a:tr h="6979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QueueInterface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&lt;Notification&gt;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notificationQueue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QueueImplementation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Storing users' 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O(n) - 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enqueue, </a:t>
                      </a:r>
                      <a:r>
                        <a:rPr lang="en-US" sz="1300" b="0" i="0" u="none" strike="noStrike" noProof="0"/>
                        <a:t>dequeue, 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clear. O(1) - </a:t>
                      </a:r>
                      <a:r>
                        <a:rPr lang="en-US" sz="1300" b="0" i="0" u="none" strike="noStrike" noProof="0" err="1"/>
                        <a:t>getFront</a:t>
                      </a:r>
                      <a:r>
                        <a:rPr lang="en-US" sz="1300" b="0" i="0" u="none" strike="noStrike" noProof="0"/>
                        <a:t>,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isEmpty</a:t>
                      </a:r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034951"/>
                  </a:ext>
                </a:extLst>
              </a:tr>
              <a:tr h="4966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ListInterface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ActionRecord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&gt;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actionHistory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LinkedListImplementation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Storing users' action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O(n) - Add, remove, get, set, contains,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577684"/>
                  </a:ext>
                </a:extLst>
              </a:tr>
              <a:tr h="4966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MergeSortImplementation sorter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MergeSortImplementation();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Sorting users by Trophy Count for leaderboard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O( 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83293"/>
                  </a:ext>
                </a:extLst>
              </a:tr>
              <a:tr h="6979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ListInterface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LeaderboardEntry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&gt;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globalLeaderboard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ArrayListImplementation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LeaderboardEntry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Storing </a:t>
                      </a:r>
                      <a:r>
                        <a:rPr lang="en-US" sz="1300" err="1"/>
                        <a:t>LeaderboardEntry</a:t>
                      </a:r>
                      <a:r>
                        <a:rPr lang="en-US" sz="1300"/>
                        <a:t> object with user stats for Leaderboard sorting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O(n) - Add, remove, contains, etc. O(1) - Get,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253213"/>
                  </a:ext>
                </a:extLst>
              </a:tr>
              <a:tr h="4966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MapInterface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&lt;String,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StudyRoom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&gt; rooms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new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HashMapImplementation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&lt;&gt;();</a:t>
                      </a:r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Storing all room Ids and </a:t>
                      </a:r>
                      <a:r>
                        <a:rPr lang="en-US" sz="1300" err="1"/>
                        <a:t>StudyRoom</a:t>
                      </a:r>
                      <a:r>
                        <a:rPr lang="en-US" sz="1300"/>
                        <a:t>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(1) - Put, Remove, Get, Contains</a:t>
                      </a:r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495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3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0FEC9-C275-ACAC-8B47-7865965161CD}"/>
              </a:ext>
            </a:extLst>
          </p:cNvPr>
          <p:cNvSpPr txBox="1"/>
          <p:nvPr/>
        </p:nvSpPr>
        <p:spPr>
          <a:xfrm>
            <a:off x="78058" y="61554"/>
            <a:ext cx="225626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solidFill>
                  <a:srgbClr val="1E2761"/>
                </a:solidFill>
              </a:rPr>
              <a:t>3. Design: Flow Chart</a:t>
            </a:r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FC5379E-C6BB-0FFE-0435-FABA71420C8F}"/>
              </a:ext>
            </a:extLst>
          </p:cNvPr>
          <p:cNvSpPr/>
          <p:nvPr/>
        </p:nvSpPr>
        <p:spPr>
          <a:xfrm>
            <a:off x="3760198" y="75829"/>
            <a:ext cx="1463040" cy="451995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786532-B540-0ED6-DC36-44AE0161B94E}"/>
              </a:ext>
            </a:extLst>
          </p:cNvPr>
          <p:cNvSpPr/>
          <p:nvPr/>
        </p:nvSpPr>
        <p:spPr>
          <a:xfrm>
            <a:off x="3854240" y="118983"/>
            <a:ext cx="1274956" cy="369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User Login/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Registration</a:t>
            </a:r>
            <a:endParaRPr lang="en-US" sz="1200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19972308-4D97-51AF-A9B9-CAC42711815D}"/>
              </a:ext>
            </a:extLst>
          </p:cNvPr>
          <p:cNvSpPr/>
          <p:nvPr/>
        </p:nvSpPr>
        <p:spPr>
          <a:xfrm>
            <a:off x="4409950" y="526599"/>
            <a:ext cx="242335" cy="252761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EF073B0B-FE6E-0190-893C-416B874D80C5}"/>
              </a:ext>
            </a:extLst>
          </p:cNvPr>
          <p:cNvSpPr/>
          <p:nvPr/>
        </p:nvSpPr>
        <p:spPr>
          <a:xfrm>
            <a:off x="2803394" y="78872"/>
            <a:ext cx="845483" cy="377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3B4CCA"/>
                </a:solidFill>
              </a:rPr>
              <a:t>App Starts</a:t>
            </a:r>
            <a:endParaRPr lang="en-US" sz="10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BA2164F9-099E-1E3B-BB6D-BC1AB59DE55B}"/>
              </a:ext>
            </a:extLst>
          </p:cNvPr>
          <p:cNvSpPr/>
          <p:nvPr/>
        </p:nvSpPr>
        <p:spPr>
          <a:xfrm>
            <a:off x="208651" y="778626"/>
            <a:ext cx="8757381" cy="29227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5A611E4-B50F-582F-6070-D543D3A0FE3F}"/>
              </a:ext>
            </a:extLst>
          </p:cNvPr>
          <p:cNvSpPr/>
          <p:nvPr/>
        </p:nvSpPr>
        <p:spPr>
          <a:xfrm>
            <a:off x="1433764" y="778626"/>
            <a:ext cx="6437039" cy="292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Lobby UI – Browse list of Public/ Private Study Rooms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1ABD625A-7099-2F8C-F90B-052A8EF188DF}"/>
              </a:ext>
            </a:extLst>
          </p:cNvPr>
          <p:cNvSpPr/>
          <p:nvPr/>
        </p:nvSpPr>
        <p:spPr>
          <a:xfrm>
            <a:off x="2266879" y="1496275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189571F-AF37-9B43-3B92-F0395D8E4EA8}"/>
              </a:ext>
            </a:extLst>
          </p:cNvPr>
          <p:cNvSpPr/>
          <p:nvPr/>
        </p:nvSpPr>
        <p:spPr>
          <a:xfrm>
            <a:off x="2266879" y="1496275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</a:rPr>
              <a:t>Study Room UI</a:t>
            </a: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E8485EF6-FD7C-C2DA-6CA2-4192036728D1}"/>
              </a:ext>
            </a:extLst>
          </p:cNvPr>
          <p:cNvSpPr/>
          <p:nvPr/>
        </p:nvSpPr>
        <p:spPr>
          <a:xfrm>
            <a:off x="6823491" y="1075117"/>
            <a:ext cx="982342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Click Profile</a:t>
            </a:r>
            <a:endParaRPr lang="en-US" sz="1000" i="1">
              <a:solidFill>
                <a:srgbClr val="3B4CCA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38537347-19F9-90D1-25BD-391201668389}"/>
              </a:ext>
            </a:extLst>
          </p:cNvPr>
          <p:cNvSpPr/>
          <p:nvPr/>
        </p:nvSpPr>
        <p:spPr>
          <a:xfrm>
            <a:off x="4381416" y="1085765"/>
            <a:ext cx="292271" cy="369332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558C5363-96FF-293A-61A4-425AC06FFA2A}"/>
              </a:ext>
            </a:extLst>
          </p:cNvPr>
          <p:cNvSpPr/>
          <p:nvPr/>
        </p:nvSpPr>
        <p:spPr>
          <a:xfrm>
            <a:off x="2663452" y="1077105"/>
            <a:ext cx="300930" cy="395309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17333A9E-A44C-8339-164E-756AF894F23F}"/>
              </a:ext>
            </a:extLst>
          </p:cNvPr>
          <p:cNvSpPr/>
          <p:nvPr/>
        </p:nvSpPr>
        <p:spPr>
          <a:xfrm>
            <a:off x="753340" y="1085271"/>
            <a:ext cx="283612" cy="403968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9F922629-BFDA-FEFC-8FDB-89C5FBDB41FD}"/>
              </a:ext>
            </a:extLst>
          </p:cNvPr>
          <p:cNvSpPr/>
          <p:nvPr/>
        </p:nvSpPr>
        <p:spPr>
          <a:xfrm>
            <a:off x="1808513" y="1135205"/>
            <a:ext cx="96502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Click Public / Private Room</a:t>
            </a:r>
            <a:endParaRPr lang="en-US" sz="1000" i="1">
              <a:solidFill>
                <a:srgbClr val="3B4CCA"/>
              </a:solidFill>
              <a:ea typeface="Calibri"/>
              <a:cs typeface="Calibri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1185AAB-5746-12F8-BC81-2497A8271E7C}"/>
              </a:ext>
            </a:extLst>
          </p:cNvPr>
          <p:cNvSpPr/>
          <p:nvPr/>
        </p:nvSpPr>
        <p:spPr>
          <a:xfrm>
            <a:off x="-71875" y="1106775"/>
            <a:ext cx="965025" cy="369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3B4CCA"/>
                </a:solidFill>
              </a:rPr>
              <a:t>Click Leaderboard</a:t>
            </a:r>
            <a:endParaRPr lang="en-US" sz="10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11B2B7D-121D-8B4B-D964-745A7093F2FD}"/>
              </a:ext>
            </a:extLst>
          </p:cNvPr>
          <p:cNvSpPr/>
          <p:nvPr/>
        </p:nvSpPr>
        <p:spPr>
          <a:xfrm>
            <a:off x="6215902" y="1090148"/>
            <a:ext cx="292271" cy="369332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DDBF365-7BA3-8D52-5F24-D646C849A244}"/>
              </a:ext>
            </a:extLst>
          </p:cNvPr>
          <p:cNvSpPr/>
          <p:nvPr/>
        </p:nvSpPr>
        <p:spPr>
          <a:xfrm>
            <a:off x="3530306" y="1141410"/>
            <a:ext cx="96502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Click Room Creation</a:t>
            </a:r>
            <a:endParaRPr lang="en-US" sz="10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A2D12135-62C7-899E-780B-FC3ADD1F1946}"/>
              </a:ext>
            </a:extLst>
          </p:cNvPr>
          <p:cNvSpPr/>
          <p:nvPr/>
        </p:nvSpPr>
        <p:spPr>
          <a:xfrm>
            <a:off x="7653311" y="1090147"/>
            <a:ext cx="292271" cy="369332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1083339-FE93-BBDE-420A-54BA4659183D}"/>
              </a:ext>
            </a:extLst>
          </p:cNvPr>
          <p:cNvSpPr/>
          <p:nvPr/>
        </p:nvSpPr>
        <p:spPr>
          <a:xfrm>
            <a:off x="5383352" y="1089454"/>
            <a:ext cx="96502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Click Room Search</a:t>
            </a:r>
            <a:endParaRPr lang="en-US" sz="1000" i="1">
              <a:solidFill>
                <a:srgbClr val="3B4CCA"/>
              </a:solidFill>
              <a:ea typeface="Calibri"/>
              <a:cs typeface="Calibri"/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DFC25AC2-D832-1556-1B66-B1116121407F}"/>
              </a:ext>
            </a:extLst>
          </p:cNvPr>
          <p:cNvSpPr/>
          <p:nvPr/>
        </p:nvSpPr>
        <p:spPr>
          <a:xfrm flipH="1">
            <a:off x="5223652" y="135975"/>
            <a:ext cx="3515239" cy="637990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16">
            <a:extLst>
              <a:ext uri="{FF2B5EF4-FFF2-40B4-BE49-F238E27FC236}">
                <a16:creationId xmlns:a16="http://schemas.microsoft.com/office/drawing/2014/main" id="{9DAF982E-8080-09E4-3C41-4DDD8A6DA216}"/>
              </a:ext>
            </a:extLst>
          </p:cNvPr>
          <p:cNvSpPr/>
          <p:nvPr/>
        </p:nvSpPr>
        <p:spPr>
          <a:xfrm>
            <a:off x="7801968" y="339093"/>
            <a:ext cx="982342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  <a:ea typeface="Calibri"/>
                <a:cs typeface="Calibri"/>
              </a:rPr>
              <a:t>Logout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6FE8F3B-68C7-A009-C3AD-3F7EA426875C}"/>
              </a:ext>
            </a:extLst>
          </p:cNvPr>
          <p:cNvSpPr/>
          <p:nvPr/>
        </p:nvSpPr>
        <p:spPr>
          <a:xfrm>
            <a:off x="1645356" y="1603322"/>
            <a:ext cx="765865" cy="4559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Service Assigns random Pokémon</a:t>
            </a:r>
            <a:endParaRPr lang="en-US" sz="1000" i="1" err="1">
              <a:solidFill>
                <a:srgbClr val="3B4CCA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A955F4DB-C705-2C95-0B82-1E05B9E53961}"/>
              </a:ext>
            </a:extLst>
          </p:cNvPr>
          <p:cNvSpPr/>
          <p:nvPr/>
        </p:nvSpPr>
        <p:spPr>
          <a:xfrm>
            <a:off x="2741383" y="3016741"/>
            <a:ext cx="274953" cy="343355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C6286E7F-4849-1320-B9B6-AC00273BAC2D}"/>
              </a:ext>
            </a:extLst>
          </p:cNvPr>
          <p:cNvSpPr/>
          <p:nvPr/>
        </p:nvSpPr>
        <p:spPr>
          <a:xfrm>
            <a:off x="2732723" y="3934604"/>
            <a:ext cx="240317" cy="377991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29DB2438-4B30-C7A0-212C-7ECBD35424AB}"/>
              </a:ext>
            </a:extLst>
          </p:cNvPr>
          <p:cNvSpPr/>
          <p:nvPr/>
        </p:nvSpPr>
        <p:spPr>
          <a:xfrm>
            <a:off x="2706747" y="2046923"/>
            <a:ext cx="292271" cy="386650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4A93EC2B-74D6-5CAB-1648-110D087BF54A}"/>
              </a:ext>
            </a:extLst>
          </p:cNvPr>
          <p:cNvSpPr/>
          <p:nvPr/>
        </p:nvSpPr>
        <p:spPr>
          <a:xfrm>
            <a:off x="4386611" y="2064242"/>
            <a:ext cx="300930" cy="395309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5B0496B1-5736-A9A4-12DE-3D071FA3E310}"/>
              </a:ext>
            </a:extLst>
          </p:cNvPr>
          <p:cNvSpPr/>
          <p:nvPr/>
        </p:nvSpPr>
        <p:spPr>
          <a:xfrm>
            <a:off x="4438564" y="3622877"/>
            <a:ext cx="300930" cy="395309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328FA5C9-483A-23CC-BB25-9A7AA1700A10}"/>
              </a:ext>
            </a:extLst>
          </p:cNvPr>
          <p:cNvSpPr/>
          <p:nvPr/>
        </p:nvSpPr>
        <p:spPr>
          <a:xfrm>
            <a:off x="6239656" y="2038263"/>
            <a:ext cx="300930" cy="395309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C84E3F15-E9D2-D6B0-CAED-3D6F32584610}"/>
              </a:ext>
            </a:extLst>
          </p:cNvPr>
          <p:cNvSpPr/>
          <p:nvPr/>
        </p:nvSpPr>
        <p:spPr>
          <a:xfrm>
            <a:off x="335901" y="1504933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9C3759BB-5342-62A2-FF71-221D92FAD9E3}"/>
              </a:ext>
            </a:extLst>
          </p:cNvPr>
          <p:cNvSpPr/>
          <p:nvPr/>
        </p:nvSpPr>
        <p:spPr>
          <a:xfrm>
            <a:off x="335901" y="1504933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Global / Room Leaderboard UI</a:t>
            </a: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8B637D19-707E-FBEF-0F78-525BC42A642B}"/>
              </a:ext>
            </a:extLst>
          </p:cNvPr>
          <p:cNvSpPr/>
          <p:nvPr/>
        </p:nvSpPr>
        <p:spPr>
          <a:xfrm>
            <a:off x="5799787" y="1478955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C2632C75-55DB-20B2-6CB5-033247372824}"/>
              </a:ext>
            </a:extLst>
          </p:cNvPr>
          <p:cNvSpPr/>
          <p:nvPr/>
        </p:nvSpPr>
        <p:spPr>
          <a:xfrm>
            <a:off x="5799787" y="1478955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Room Search UI</a:t>
            </a:r>
            <a:endParaRPr lang="en-US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EE189B53-F6B8-F3ED-8463-C1D1A21D4DB8}"/>
              </a:ext>
            </a:extLst>
          </p:cNvPr>
          <p:cNvSpPr/>
          <p:nvPr/>
        </p:nvSpPr>
        <p:spPr>
          <a:xfrm>
            <a:off x="3981377" y="1470296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996D5CE3-1B11-A89D-D3BE-CC413456A036}"/>
              </a:ext>
            </a:extLst>
          </p:cNvPr>
          <p:cNvSpPr/>
          <p:nvPr/>
        </p:nvSpPr>
        <p:spPr>
          <a:xfrm>
            <a:off x="3981377" y="1470296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Room Creation UI</a:t>
            </a:r>
            <a:endParaRPr lang="en-US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7F6905DA-0DE6-782D-F686-7369126DD841}"/>
              </a:ext>
            </a:extLst>
          </p:cNvPr>
          <p:cNvSpPr/>
          <p:nvPr/>
        </p:nvSpPr>
        <p:spPr>
          <a:xfrm>
            <a:off x="7280491" y="1470296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1DB1AD4A-67B8-86FD-1CCA-CF799A42E660}"/>
              </a:ext>
            </a:extLst>
          </p:cNvPr>
          <p:cNvSpPr/>
          <p:nvPr/>
        </p:nvSpPr>
        <p:spPr>
          <a:xfrm>
            <a:off x="7280491" y="1470296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Profile UI</a:t>
            </a:r>
            <a:endParaRPr lang="en-US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CE0DCFE9-5549-5B81-66C6-54910F52703F}"/>
              </a:ext>
            </a:extLst>
          </p:cNvPr>
          <p:cNvSpPr/>
          <p:nvPr/>
        </p:nvSpPr>
        <p:spPr>
          <a:xfrm>
            <a:off x="3912104" y="2466091"/>
            <a:ext cx="1419744" cy="1160664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1682221F-0B96-C11C-30B4-21243DB5BCAB}"/>
              </a:ext>
            </a:extLst>
          </p:cNvPr>
          <p:cNvSpPr/>
          <p:nvPr/>
        </p:nvSpPr>
        <p:spPr>
          <a:xfrm>
            <a:off x="3851490" y="2518046"/>
            <a:ext cx="1540971" cy="1030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Enter Room Name</a:t>
            </a:r>
            <a:endParaRPr lang="en-US">
              <a:solidFill>
                <a:srgbClr val="000000"/>
              </a:solidFill>
            </a:endParaRPr>
          </a:p>
          <a:p>
            <a:pPr algn="ctr"/>
            <a:r>
              <a:rPr lang="en-US" sz="1200" b="1">
                <a:solidFill>
                  <a:srgbClr val="1E2761"/>
                </a:solidFill>
              </a:rPr>
              <a:t>Capacity</a:t>
            </a:r>
          </a:p>
          <a:p>
            <a:pPr algn="ctr"/>
            <a:r>
              <a:rPr lang="en-US" sz="1200" b="1">
                <a:solidFill>
                  <a:srgbClr val="1E2761"/>
                </a:solidFill>
                <a:ea typeface="Calibri" panose="020F0502020204030204"/>
                <a:cs typeface="Calibri" panose="020F0502020204030204"/>
              </a:rPr>
              <a:t>Duration</a:t>
            </a:r>
            <a:endParaRPr lang="en-US" sz="1200" b="1">
              <a:solidFill>
                <a:srgbClr val="1E2761"/>
              </a:solidFill>
            </a:endParaRPr>
          </a:p>
          <a:p>
            <a:pPr algn="ctr"/>
            <a:r>
              <a:rPr lang="en-US" sz="1200" b="1">
                <a:solidFill>
                  <a:srgbClr val="1E2761"/>
                </a:solidFill>
              </a:rPr>
              <a:t>Public / private</a:t>
            </a:r>
          </a:p>
          <a:p>
            <a:pPr algn="ctr"/>
            <a:r>
              <a:rPr lang="en-US" sz="1200" b="1">
                <a:solidFill>
                  <a:srgbClr val="1E2761"/>
                </a:solidFill>
              </a:rPr>
              <a:t>Password for private</a:t>
            </a:r>
            <a:br>
              <a:rPr lang="en-US" sz="1200" b="1">
                <a:solidFill>
                  <a:srgbClr val="1E2761"/>
                </a:solidFill>
              </a:rPr>
            </a:br>
            <a:endParaRPr lang="en-US" sz="1200" b="1">
              <a:solidFill>
                <a:srgbClr val="1E2761"/>
              </a:solidFill>
            </a:endParaRPr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E311340A-989E-30F4-1912-B68E0683C331}"/>
              </a:ext>
            </a:extLst>
          </p:cNvPr>
          <p:cNvSpPr/>
          <p:nvPr/>
        </p:nvSpPr>
        <p:spPr>
          <a:xfrm>
            <a:off x="1002651" y="2483410"/>
            <a:ext cx="908859" cy="47659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9D43A2F5-BD7A-CFB1-A93B-759CC8C1C32C}"/>
              </a:ext>
            </a:extLst>
          </p:cNvPr>
          <p:cNvSpPr/>
          <p:nvPr/>
        </p:nvSpPr>
        <p:spPr>
          <a:xfrm>
            <a:off x="1002651" y="2483410"/>
            <a:ext cx="908859" cy="4765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Take Break / Resume</a:t>
            </a:r>
            <a:endParaRPr lang="en-US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E10F1333-459F-1CB7-DF9A-1BBAA4605B90}"/>
              </a:ext>
            </a:extLst>
          </p:cNvPr>
          <p:cNvSpPr/>
          <p:nvPr/>
        </p:nvSpPr>
        <p:spPr>
          <a:xfrm>
            <a:off x="4684694" y="3629548"/>
            <a:ext cx="982342" cy="3953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Click Create</a:t>
            </a:r>
            <a:endParaRPr lang="en-US"/>
          </a:p>
        </p:txBody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F31D199D-1D5D-0D13-2A39-74B142A67E7A}"/>
              </a:ext>
            </a:extLst>
          </p:cNvPr>
          <p:cNvSpPr/>
          <p:nvPr/>
        </p:nvSpPr>
        <p:spPr>
          <a:xfrm>
            <a:off x="4016015" y="4024728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02B13465-AE7D-F841-959D-B007B4DF9BA3}"/>
              </a:ext>
            </a:extLst>
          </p:cNvPr>
          <p:cNvSpPr/>
          <p:nvPr/>
        </p:nvSpPr>
        <p:spPr>
          <a:xfrm>
            <a:off x="4016015" y="4024728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New Room Created</a:t>
            </a:r>
            <a:endParaRPr lang="en-US" sz="1200" b="1">
              <a:solidFill>
                <a:srgbClr val="1E2761"/>
              </a:solidFill>
              <a:ea typeface="Calibri"/>
              <a:cs typeface="Calibri"/>
            </a:endParaRP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05E10793-57C7-E0FF-E294-0F093106DF07}"/>
              </a:ext>
            </a:extLst>
          </p:cNvPr>
          <p:cNvSpPr/>
          <p:nvPr/>
        </p:nvSpPr>
        <p:spPr>
          <a:xfrm>
            <a:off x="1359602" y="4027866"/>
            <a:ext cx="982342" cy="3953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Check Room Leaderboard</a:t>
            </a:r>
            <a:endParaRPr lang="en-US"/>
          </a:p>
        </p:txBody>
      </p:sp>
      <p:sp>
        <p:nvSpPr>
          <p:cNvPr id="57" name="Shape 1">
            <a:extLst>
              <a:ext uri="{FF2B5EF4-FFF2-40B4-BE49-F238E27FC236}">
                <a16:creationId xmlns:a16="http://schemas.microsoft.com/office/drawing/2014/main" id="{F8F51AB6-3FB0-2242-7287-A0BF44384D29}"/>
              </a:ext>
            </a:extLst>
          </p:cNvPr>
          <p:cNvSpPr/>
          <p:nvPr/>
        </p:nvSpPr>
        <p:spPr>
          <a:xfrm>
            <a:off x="2275537" y="2431455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76EA5CE8-F40D-F5B1-9A45-88377405795D}"/>
              </a:ext>
            </a:extLst>
          </p:cNvPr>
          <p:cNvSpPr/>
          <p:nvPr/>
        </p:nvSpPr>
        <p:spPr>
          <a:xfrm>
            <a:off x="2275537" y="2431455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  <a:ea typeface="Calibri"/>
                <a:cs typeface="Calibri"/>
              </a:rPr>
              <a:t>Study Timer Starts / Pause</a:t>
            </a: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54CF5066-57B9-0674-B22E-5F0DBF533942}"/>
              </a:ext>
            </a:extLst>
          </p:cNvPr>
          <p:cNvSpPr/>
          <p:nvPr/>
        </p:nvSpPr>
        <p:spPr>
          <a:xfrm>
            <a:off x="2275537" y="3357979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D703F3AC-7605-A191-8C5B-210B648851B5}"/>
              </a:ext>
            </a:extLst>
          </p:cNvPr>
          <p:cNvSpPr/>
          <p:nvPr/>
        </p:nvSpPr>
        <p:spPr>
          <a:xfrm>
            <a:off x="2275537" y="3357979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Pokémon Evolves</a:t>
            </a:r>
            <a:endParaRPr lang="en-US"/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66A5E10F-8AAD-493B-2DF7-53BE6507F6A5}"/>
              </a:ext>
            </a:extLst>
          </p:cNvPr>
          <p:cNvSpPr/>
          <p:nvPr/>
        </p:nvSpPr>
        <p:spPr>
          <a:xfrm>
            <a:off x="2249559" y="4301820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204BBB9F-57A8-17ED-BF9C-FF4A46C1DE8C}"/>
              </a:ext>
            </a:extLst>
          </p:cNvPr>
          <p:cNvSpPr/>
          <p:nvPr/>
        </p:nvSpPr>
        <p:spPr>
          <a:xfrm>
            <a:off x="2249559" y="4301820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Trophy Collected</a:t>
            </a:r>
            <a:endParaRPr lang="en-US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F4EF0849-0F45-D882-F140-8ADBE278EE62}"/>
              </a:ext>
            </a:extLst>
          </p:cNvPr>
          <p:cNvSpPr/>
          <p:nvPr/>
        </p:nvSpPr>
        <p:spPr>
          <a:xfrm>
            <a:off x="6274291" y="3042717"/>
            <a:ext cx="300930" cy="395309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Arrow: Left-Right 63">
            <a:extLst>
              <a:ext uri="{FF2B5EF4-FFF2-40B4-BE49-F238E27FC236}">
                <a16:creationId xmlns:a16="http://schemas.microsoft.com/office/drawing/2014/main" id="{68FC8EB8-5AAB-7338-2CEB-75854736A87A}"/>
              </a:ext>
            </a:extLst>
          </p:cNvPr>
          <p:cNvSpPr/>
          <p:nvPr/>
        </p:nvSpPr>
        <p:spPr>
          <a:xfrm>
            <a:off x="1904219" y="2575246"/>
            <a:ext cx="387580" cy="263265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hape 1">
            <a:extLst>
              <a:ext uri="{FF2B5EF4-FFF2-40B4-BE49-F238E27FC236}">
                <a16:creationId xmlns:a16="http://schemas.microsoft.com/office/drawing/2014/main" id="{4533F42A-90E3-40C2-6D93-8BBDFFC97737}"/>
              </a:ext>
            </a:extLst>
          </p:cNvPr>
          <p:cNvSpPr/>
          <p:nvPr/>
        </p:nvSpPr>
        <p:spPr>
          <a:xfrm>
            <a:off x="5834424" y="2448773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B98FD1F2-20E2-D994-C25C-A16FACDDE370}"/>
              </a:ext>
            </a:extLst>
          </p:cNvPr>
          <p:cNvSpPr/>
          <p:nvPr/>
        </p:nvSpPr>
        <p:spPr>
          <a:xfrm>
            <a:off x="5834424" y="2448773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Search By Name</a:t>
            </a:r>
            <a:endParaRPr lang="en-US"/>
          </a:p>
        </p:txBody>
      </p:sp>
      <p:sp>
        <p:nvSpPr>
          <p:cNvPr id="67" name="Shape 1">
            <a:extLst>
              <a:ext uri="{FF2B5EF4-FFF2-40B4-BE49-F238E27FC236}">
                <a16:creationId xmlns:a16="http://schemas.microsoft.com/office/drawing/2014/main" id="{0BF836BC-0324-A898-F3B7-8A076C00FAAF}"/>
              </a:ext>
            </a:extLst>
          </p:cNvPr>
          <p:cNvSpPr/>
          <p:nvPr/>
        </p:nvSpPr>
        <p:spPr>
          <a:xfrm>
            <a:off x="5851743" y="3435910"/>
            <a:ext cx="1168631" cy="571847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AA9E81DC-8DF4-D004-62FD-7632D9754598}"/>
              </a:ext>
            </a:extLst>
          </p:cNvPr>
          <p:cNvSpPr/>
          <p:nvPr/>
        </p:nvSpPr>
        <p:spPr>
          <a:xfrm>
            <a:off x="5851743" y="3435910"/>
            <a:ext cx="1168631" cy="5718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</a:rPr>
              <a:t>List of Room Appears – Click on enter</a:t>
            </a:r>
            <a:endParaRPr lang="en-US"/>
          </a:p>
        </p:txBody>
      </p:sp>
      <p:sp>
        <p:nvSpPr>
          <p:cNvPr id="69" name="Arrow: Bent 68">
            <a:extLst>
              <a:ext uri="{FF2B5EF4-FFF2-40B4-BE49-F238E27FC236}">
                <a16:creationId xmlns:a16="http://schemas.microsoft.com/office/drawing/2014/main" id="{1535A3ED-49CE-5B81-022E-A4024EFBCBFA}"/>
              </a:ext>
            </a:extLst>
          </p:cNvPr>
          <p:cNvSpPr/>
          <p:nvPr/>
        </p:nvSpPr>
        <p:spPr>
          <a:xfrm rot="16200000">
            <a:off x="-361463" y="3045429"/>
            <a:ext cx="2502126" cy="594693"/>
          </a:xfrm>
          <a:prstGeom prst="ben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657EC4A7-3EAC-20E5-791B-641E4AA765A0}"/>
              </a:ext>
            </a:extLst>
          </p:cNvPr>
          <p:cNvSpPr/>
          <p:nvPr/>
        </p:nvSpPr>
        <p:spPr>
          <a:xfrm>
            <a:off x="3247287" y="2044935"/>
            <a:ext cx="765865" cy="4559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Service starts timer</a:t>
            </a:r>
            <a:endParaRPr lang="en-US"/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2FA3CB6B-2182-C44D-72BB-2991A42E82B4}"/>
              </a:ext>
            </a:extLst>
          </p:cNvPr>
          <p:cNvSpPr/>
          <p:nvPr/>
        </p:nvSpPr>
        <p:spPr>
          <a:xfrm>
            <a:off x="993991" y="3444568"/>
            <a:ext cx="960813" cy="441961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2">
            <a:extLst>
              <a:ext uri="{FF2B5EF4-FFF2-40B4-BE49-F238E27FC236}">
                <a16:creationId xmlns:a16="http://schemas.microsoft.com/office/drawing/2014/main" id="{6C5A8560-576A-0E84-C52B-C05BB7FA5888}"/>
              </a:ext>
            </a:extLst>
          </p:cNvPr>
          <p:cNvSpPr/>
          <p:nvPr/>
        </p:nvSpPr>
        <p:spPr>
          <a:xfrm>
            <a:off x="993991" y="3444568"/>
            <a:ext cx="960813" cy="4419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1E2761"/>
                </a:solidFill>
                <a:ea typeface="Calibri"/>
                <a:cs typeface="Calibri"/>
              </a:rPr>
              <a:t>Notification Service</a:t>
            </a:r>
          </a:p>
        </p:txBody>
      </p:sp>
      <p:sp>
        <p:nvSpPr>
          <p:cNvPr id="78" name="Arrow: Left-Right 77">
            <a:extLst>
              <a:ext uri="{FF2B5EF4-FFF2-40B4-BE49-F238E27FC236}">
                <a16:creationId xmlns:a16="http://schemas.microsoft.com/office/drawing/2014/main" id="{FD2DEAF3-48A2-79C8-CDD0-232A869B1082}"/>
              </a:ext>
            </a:extLst>
          </p:cNvPr>
          <p:cNvSpPr/>
          <p:nvPr/>
        </p:nvSpPr>
        <p:spPr>
          <a:xfrm>
            <a:off x="1912878" y="3527745"/>
            <a:ext cx="387580" cy="263265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E46671B9-0EFB-E422-D196-9847E05C4A04}"/>
              </a:ext>
            </a:extLst>
          </p:cNvPr>
          <p:cNvSpPr/>
          <p:nvPr/>
        </p:nvSpPr>
        <p:spPr>
          <a:xfrm>
            <a:off x="1506806" y="3127320"/>
            <a:ext cx="982342" cy="3953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</a:rPr>
              <a:t>Show popup</a:t>
            </a:r>
            <a:endParaRPr lang="en-US"/>
          </a:p>
        </p:txBody>
      </p:sp>
      <p:sp>
        <p:nvSpPr>
          <p:cNvPr id="80" name="Minus Sign 79">
            <a:extLst>
              <a:ext uri="{FF2B5EF4-FFF2-40B4-BE49-F238E27FC236}">
                <a16:creationId xmlns:a16="http://schemas.microsoft.com/office/drawing/2014/main" id="{0C2E0058-FE38-D569-C420-9B5A1B75597D}"/>
              </a:ext>
            </a:extLst>
          </p:cNvPr>
          <p:cNvSpPr/>
          <p:nvPr/>
        </p:nvSpPr>
        <p:spPr>
          <a:xfrm>
            <a:off x="1004827" y="4241878"/>
            <a:ext cx="1430161" cy="582724"/>
          </a:xfrm>
          <a:prstGeom prst="mathMinu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08DBE4EE-B968-D6EF-3089-15BA055DC406}"/>
              </a:ext>
            </a:extLst>
          </p:cNvPr>
          <p:cNvSpPr/>
          <p:nvPr/>
        </p:nvSpPr>
        <p:spPr>
          <a:xfrm>
            <a:off x="4598103" y="2062252"/>
            <a:ext cx="982342" cy="3953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i="1">
                <a:solidFill>
                  <a:srgbClr val="3B4CCA"/>
                </a:solidFill>
                <a:ea typeface="Calibri"/>
                <a:cs typeface="Calibri"/>
              </a:rPr>
              <a:t>Enter details</a:t>
            </a:r>
          </a:p>
        </p:txBody>
      </p:sp>
    </p:spTree>
    <p:extLst>
      <p:ext uri="{BB962C8B-B14F-4D97-AF65-F5344CB8AC3E}">
        <p14:creationId xmlns:p14="http://schemas.microsoft.com/office/powerpoint/2010/main" val="396800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604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4. Implementation: Tools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404946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🎨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</a:rPr>
              <a:t>Frontend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94477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JavaFX 21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17737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FXML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16845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CSS Styling</a:t>
            </a:r>
          </a:p>
        </p:txBody>
      </p:sp>
      <p:sp>
        <p:nvSpPr>
          <p:cNvPr id="10" name="Shape 8"/>
          <p:cNvSpPr/>
          <p:nvPr/>
        </p:nvSpPr>
        <p:spPr>
          <a:xfrm>
            <a:off x="3210813" y="1188720"/>
            <a:ext cx="2404946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85133" y="1371600"/>
            <a:ext cx="28630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⚙️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4033774" y="1417320"/>
            <a:ext cx="14005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</a:rPr>
              <a:t>Backend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450497" y="1920240"/>
            <a:ext cx="2061382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Java 17/21 (LTS)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450497" y="2176272"/>
            <a:ext cx="2061382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212121"/>
                </a:solidFill>
              </a:rPr>
              <a:t>• Maven 3.9.14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441838" y="2414986"/>
            <a:ext cx="2130654" cy="2545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212121"/>
                </a:solidFill>
              </a:rPr>
              <a:t>• Model, View, Service Pattern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0497" y="2688336"/>
            <a:ext cx="206138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Service Layer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982733" y="1188720"/>
            <a:ext cx="2429747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3705" y="1350346"/>
            <a:ext cx="289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00000"/>
                </a:solidFill>
              </a:rPr>
              <a:t>🔧</a:t>
            </a:r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6809958" y="1395996"/>
            <a:ext cx="14612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</a:rPr>
              <a:t>Build &amp; Tools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6316762" y="1988479"/>
            <a:ext cx="208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Maven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6316762" y="2449364"/>
            <a:ext cx="208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Git/GitHub</a:t>
            </a:r>
          </a:p>
        </p:txBody>
      </p:sp>
      <p:sp>
        <p:nvSpPr>
          <p:cNvPr id="30" name="Text 28"/>
          <p:cNvSpPr/>
          <p:nvPr/>
        </p:nvSpPr>
        <p:spPr>
          <a:xfrm>
            <a:off x="6316762" y="2220732"/>
            <a:ext cx="208264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212121"/>
                </a:solidFill>
              </a:rPr>
              <a:t>• Eclipse IDE</a:t>
            </a:r>
            <a:endParaRPr lang="en-US" sz="1200"/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FAFF397A-673A-5B37-C705-0A1BAEA54EB5}"/>
              </a:ext>
            </a:extLst>
          </p:cNvPr>
          <p:cNvSpPr/>
          <p:nvPr/>
        </p:nvSpPr>
        <p:spPr>
          <a:xfrm>
            <a:off x="6316762" y="2697822"/>
            <a:ext cx="208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• Used AI for styling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382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4. Implementation: Key Features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017738"/>
            <a:ext cx="3840480" cy="182880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00618"/>
            <a:ext cx="34747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err="1"/>
              <a:t>Pokemon</a:t>
            </a:r>
            <a:r>
              <a:rPr lang="en-US" sz="1600" b="1"/>
              <a:t> Evolution System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657818"/>
            <a:ext cx="3383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/>
              <a:t>✓ Random starter </a:t>
            </a:r>
            <a:r>
              <a:rPr lang="en-US" sz="1100" err="1"/>
              <a:t>Pokemon</a:t>
            </a:r>
            <a:r>
              <a:rPr lang="en-US" sz="1100"/>
              <a:t> on room join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005290"/>
            <a:ext cx="3383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/>
              <a:t>✓ Auto-evolve at 30 min &amp; 60 min milestones (For demo purpose time kept at seconds)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2352762"/>
            <a:ext cx="3383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/>
              <a:t>✓ Trophy collection in user profile</a:t>
            </a:r>
          </a:p>
        </p:txBody>
      </p:sp>
      <p:sp>
        <p:nvSpPr>
          <p:cNvPr id="8" name="Shape 6"/>
          <p:cNvSpPr/>
          <p:nvPr/>
        </p:nvSpPr>
        <p:spPr>
          <a:xfrm>
            <a:off x="4846320" y="1017738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3B4CCA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0061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</a:rPr>
              <a:t>Study Room Management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120640" y="165781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✓ Public &amp; private rooms with passwords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120640" y="200529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✓ Admin controls (timer, capacity)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120640" y="235276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✓ Real-time user status updates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3013139"/>
            <a:ext cx="3840480" cy="182880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71525"/>
            <a:ext cx="34747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/>
              <a:t>Gamification &amp; Tracking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521564"/>
            <a:ext cx="3383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/>
              <a:t>✓ Daily study streak counter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3841604"/>
            <a:ext cx="3383280" cy="5143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dirty="0"/>
              <a:t>✓ Global &amp; room leaderboards. Sorted based on Trophy count. In case there is a tie between users, studied time is compared to rank the users.</a:t>
            </a:r>
          </a:p>
          <a:p>
            <a:pPr marL="0" indent="0">
              <a:buNone/>
            </a:pPr>
            <a:r>
              <a:rPr lang="en-US" sz="1100" dirty="0"/>
              <a:t>  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402393"/>
            <a:ext cx="3383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/>
              <a:t>✓ Action history with timestamps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3005705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3B4CCA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4935" y="3171525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</a:rPr>
              <a:t>Notification System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5120640" y="3598871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✓ </a:t>
            </a:r>
            <a:r>
              <a:rPr lang="en-US" sz="1100" err="1">
                <a:solidFill>
                  <a:srgbClr val="FFFFFF"/>
                </a:solidFill>
              </a:rPr>
              <a:t>PriorityQueue</a:t>
            </a:r>
            <a:r>
              <a:rPr lang="en-US" sz="1100">
                <a:solidFill>
                  <a:srgbClr val="FFFFFF"/>
                </a:solidFill>
              </a:rPr>
              <a:t> for event ordering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120640" y="3920753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✓ Leaderboard top alert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120640" y="4242636"/>
            <a:ext cx="33832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✓ </a:t>
            </a:r>
            <a:r>
              <a:rPr lang="en-US" sz="1100" err="1">
                <a:solidFill>
                  <a:srgbClr val="FFFFFF"/>
                </a:solidFill>
              </a:rPr>
              <a:t>Pokemon</a:t>
            </a:r>
            <a:r>
              <a:rPr lang="en-US" sz="1100">
                <a:solidFill>
                  <a:srgbClr val="FFFFFF"/>
                </a:solidFill>
              </a:rPr>
              <a:t> Evolution milestone notifications</a:t>
            </a:r>
            <a:endParaRPr lang="en-US" sz="110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5. Results: Demo Scenarios</a:t>
            </a: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761"/>
                </a:solidFill>
              </a:rPr>
              <a:t>Live Demo Coverage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</a:rPr>
              <a:t>User Registration &amp; Login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0233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Create new account, login with credentials, password hashing verification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</a:rPr>
              <a:t>Browse &amp; Join Public Room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02336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View available rooms, join room, receive random starter Pokemon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</a:rPr>
              <a:t>Create Private Room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0233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Set password, configure capacity &amp; timer, invite-only access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</a:rPr>
              <a:t>Study Session &amp; Evolution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02336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12121"/>
                </a:solidFill>
              </a:rPr>
              <a:t>30-seconds timer → </a:t>
            </a:r>
            <a:r>
              <a:rPr lang="en-US" sz="1200" err="1">
                <a:solidFill>
                  <a:srgbClr val="212121"/>
                </a:solidFill>
              </a:rPr>
              <a:t>Pokemon</a:t>
            </a:r>
            <a:r>
              <a:rPr lang="en-US" sz="1200">
                <a:solidFill>
                  <a:srgbClr val="212121"/>
                </a:solidFill>
              </a:rPr>
              <a:t> evolves → Notifications trigger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5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</a:rPr>
              <a:t>Leaderboard &amp; Profile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0233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View global rankings, check </a:t>
            </a:r>
            <a:r>
              <a:rPr lang="en-US" sz="1200" dirty="0" err="1">
                <a:solidFill>
                  <a:srgbClr val="212121"/>
                </a:solidFill>
              </a:rPr>
              <a:t>Pokemon</a:t>
            </a:r>
            <a:r>
              <a:rPr lang="en-US" sz="1200" dirty="0">
                <a:solidFill>
                  <a:srgbClr val="212121"/>
                </a:solidFill>
              </a:rPr>
              <a:t> collection, study streak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C43A-C3F1-448F-BD72-F214C9C4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927CFE-1833-E9DA-1ECE-75A8D9EFFB03}"/>
              </a:ext>
            </a:extLst>
          </p:cNvPr>
          <p:cNvSpPr/>
          <p:nvPr/>
        </p:nvSpPr>
        <p:spPr>
          <a:xfrm>
            <a:off x="457200" y="229282"/>
            <a:ext cx="8229600" cy="3524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5. Results: Demo Screenshots </a:t>
            </a:r>
            <a:endParaRPr lang="en-US"/>
          </a:p>
        </p:txBody>
      </p:sp>
      <p:pic>
        <p:nvPicPr>
          <p:cNvPr id="16" name="Picture 15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0ADBD69D-7190-E70C-9523-EE82D7E7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45" y="1070496"/>
            <a:ext cx="2127867" cy="3343702"/>
          </a:xfrm>
          <a:prstGeom prst="rect">
            <a:avLst/>
          </a:prstGeom>
        </p:spPr>
      </p:pic>
      <p:pic>
        <p:nvPicPr>
          <p:cNvPr id="17" name="Picture 1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ADC3A074-2E95-8DD3-FC16-F4B58B31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507" y="1070496"/>
            <a:ext cx="2712516" cy="3318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32E8A2-A73F-B74F-09B3-380C1BAF58A4}"/>
              </a:ext>
            </a:extLst>
          </p:cNvPr>
          <p:cNvSpPr txBox="1"/>
          <p:nvPr/>
        </p:nvSpPr>
        <p:spPr>
          <a:xfrm>
            <a:off x="612698" y="730023"/>
            <a:ext cx="166862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Registration Screen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74CCA-8879-4E41-B8A3-AA83C9436AFD}"/>
              </a:ext>
            </a:extLst>
          </p:cNvPr>
          <p:cNvSpPr txBox="1"/>
          <p:nvPr/>
        </p:nvSpPr>
        <p:spPr>
          <a:xfrm>
            <a:off x="2907357" y="730022"/>
            <a:ext cx="166862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Login Screen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5B342-9BA9-3624-80C5-626E1D56114D}"/>
              </a:ext>
            </a:extLst>
          </p:cNvPr>
          <p:cNvSpPr txBox="1"/>
          <p:nvPr/>
        </p:nvSpPr>
        <p:spPr>
          <a:xfrm>
            <a:off x="5920720" y="730021"/>
            <a:ext cx="166862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Lobby UI</a:t>
            </a:r>
            <a:endParaRPr lang="en-US" sz="1400" b="1" dirty="0">
              <a:ea typeface="Calibri"/>
              <a:cs typeface="Calibri"/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22E7087A-A027-F174-25EC-AA7D7C832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208" y="1073726"/>
            <a:ext cx="2854606" cy="33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14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941B5D6E-54D7-CBB9-354E-D901D0BF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31" y="914840"/>
            <a:ext cx="2663985" cy="3487458"/>
          </a:xfrm>
          <a:prstGeom prst="rect">
            <a:avLst/>
          </a:prstGeom>
        </p:spPr>
      </p:pic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4F855512-7FA7-1CF7-1FD2-3DE35A32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19" y="915126"/>
            <a:ext cx="2853741" cy="3486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81615C-52A1-48BB-A33A-6392EBBFA942}"/>
              </a:ext>
            </a:extLst>
          </p:cNvPr>
          <p:cNvSpPr txBox="1"/>
          <p:nvPr/>
        </p:nvSpPr>
        <p:spPr>
          <a:xfrm>
            <a:off x="2953126" y="376237"/>
            <a:ext cx="26574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Pokémon</a:t>
            </a:r>
            <a:r>
              <a:rPr lang="en-US" sz="1400" b="1" dirty="0">
                <a:ea typeface="Calibri"/>
                <a:cs typeface="Calibri"/>
              </a:rPr>
              <a:t> Evolution Notification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20072-AC20-2771-2C5C-81DBE9367F20}"/>
              </a:ext>
            </a:extLst>
          </p:cNvPr>
          <p:cNvSpPr txBox="1"/>
          <p:nvPr/>
        </p:nvSpPr>
        <p:spPr>
          <a:xfrm>
            <a:off x="5855984" y="376237"/>
            <a:ext cx="28569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Profile Screen and Activity History</a:t>
            </a:r>
            <a:endParaRPr lang="en-US"/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F20FEB6-A0A0-9A24-57AA-78FBABE74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55" y="914400"/>
            <a:ext cx="2670174" cy="3487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6BC59E-D430-3196-6D7C-5D1B354F89B5}"/>
              </a:ext>
            </a:extLst>
          </p:cNvPr>
          <p:cNvSpPr txBox="1"/>
          <p:nvPr/>
        </p:nvSpPr>
        <p:spPr>
          <a:xfrm>
            <a:off x="159125" y="376236"/>
            <a:ext cx="26574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Study Room Screen</a:t>
            </a:r>
            <a:endParaRPr lang="en-US" sz="14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062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E9343-5A2D-8889-1E5D-B8CCE75A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1E204A-AA09-A83A-AEC5-B0284BCB521A}"/>
              </a:ext>
            </a:extLst>
          </p:cNvPr>
          <p:cNvSpPr txBox="1"/>
          <p:nvPr/>
        </p:nvSpPr>
        <p:spPr>
          <a:xfrm>
            <a:off x="2916841" y="376237"/>
            <a:ext cx="288419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Searching room UI + Search </a:t>
            </a:r>
            <a:r>
              <a:rPr lang="en-US" sz="1400" b="1" dirty="0">
                <a:ea typeface="Calibri"/>
                <a:cs typeface="Calibri"/>
              </a:rPr>
              <a:t>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0C5A5-EA7E-887F-AF5D-0C35C00A6C07}"/>
              </a:ext>
            </a:extLst>
          </p:cNvPr>
          <p:cNvSpPr txBox="1"/>
          <p:nvPr/>
        </p:nvSpPr>
        <p:spPr>
          <a:xfrm>
            <a:off x="6037412" y="376237"/>
            <a:ext cx="26664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ea typeface="Calibri"/>
                <a:cs typeface="Calibri"/>
              </a:rPr>
              <a:t>Troph</a:t>
            </a:r>
            <a:r>
              <a:rPr lang="en-US" sz="1400" b="1">
                <a:ea typeface="Calibri"/>
                <a:cs typeface="Calibri"/>
              </a:rPr>
              <a:t>y Collection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7EE43-D172-5830-0D35-53943D1C32C9}"/>
              </a:ext>
            </a:extLst>
          </p:cNvPr>
          <p:cNvSpPr txBox="1"/>
          <p:nvPr/>
        </p:nvSpPr>
        <p:spPr>
          <a:xfrm>
            <a:off x="159125" y="376236"/>
            <a:ext cx="26574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Create Room Screen</a:t>
            </a:r>
            <a:endParaRPr lang="en-US" sz="1400" b="1" dirty="0">
              <a:ea typeface="Calibri"/>
              <a:cs typeface="Calibri"/>
            </a:endParaRPr>
          </a:p>
        </p:txBody>
      </p:sp>
      <p:pic>
        <p:nvPicPr>
          <p:cNvPr id="4" name="Picture 3" descr="A screenshot of a room&#10;&#10;AI-generated content may be incorrect.">
            <a:extLst>
              <a:ext uri="{FF2B5EF4-FFF2-40B4-BE49-F238E27FC236}">
                <a16:creationId xmlns:a16="http://schemas.microsoft.com/office/drawing/2014/main" id="{C2390592-5FA8-6783-94C2-E131691C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0" y="916213"/>
            <a:ext cx="2853439" cy="3474359"/>
          </a:xfrm>
          <a:prstGeom prst="rect">
            <a:avLst/>
          </a:prstGeom>
        </p:spPr>
      </p:pic>
      <p:pic>
        <p:nvPicPr>
          <p:cNvPr id="6" name="Picture 5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24FA98A0-71EA-08E5-9C7A-A8B119A6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350" y="916214"/>
            <a:ext cx="2869626" cy="3483430"/>
          </a:xfrm>
          <a:prstGeom prst="rect">
            <a:avLst/>
          </a:prstGeom>
        </p:spPr>
      </p:pic>
      <p:pic>
        <p:nvPicPr>
          <p:cNvPr id="9" name="Picture 8" descr="A screenshot of a game&#10;&#10;AI-generated content may be incorrect.">
            <a:extLst>
              <a:ext uri="{FF2B5EF4-FFF2-40B4-BE49-F238E27FC236}">
                <a16:creationId xmlns:a16="http://schemas.microsoft.com/office/drawing/2014/main" id="{4965322A-E8DA-FD78-46B1-48A3EF3C4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500" y="834571"/>
            <a:ext cx="2869644" cy="347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53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6. Discussion: Challenges &amp; Solutions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5444" y="913376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07887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96167"/>
                </a:solidFill>
              </a:rPr>
              <a:t>⚠️ JavaFX Version Compatibility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22960" y="1371869"/>
            <a:ext cx="74980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2121"/>
                </a:solidFill>
              </a:rPr>
              <a:t>Solution</a:t>
            </a:r>
            <a:r>
              <a:rPr lang="en-US" sz="1200">
                <a:solidFill>
                  <a:srgbClr val="212121"/>
                </a:solidFill>
              </a:rPr>
              <a:t>: Standardized on JavaFX 21 with Maven, avoided mixing versions across team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779665" y="1663089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B4CCA"/>
                </a:solidFill>
              </a:rPr>
              <a:t>💡 Dependency management is critical for team projects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588125" y="2192342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95383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96167"/>
                </a:solidFill>
              </a:rPr>
              <a:t>⚠️ Real-time User Status Sync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82249" y="2650706"/>
            <a:ext cx="7668677" cy="2700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b="1">
                <a:solidFill>
                  <a:srgbClr val="212121"/>
                </a:solidFill>
              </a:rPr>
              <a:t>Solution</a:t>
            </a:r>
            <a:r>
              <a:rPr lang="en-US" sz="1200">
                <a:solidFill>
                  <a:srgbClr val="212121"/>
                </a:solidFill>
              </a:rPr>
              <a:t>: Implemented Observer pattern with event listeners for instant UI updates.</a:t>
            </a:r>
            <a:endParaRPr lang="en-US" sz="1200">
              <a:solidFill>
                <a:srgbClr val="212121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6369" y="2919437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B4CCA"/>
                </a:solidFill>
              </a:rPr>
              <a:t>💡 Design patterns solve complex state management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76106" y="3518222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3687" y="3637288"/>
            <a:ext cx="74980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F96167"/>
                </a:solidFill>
              </a:rPr>
              <a:t>⚠️</a:t>
            </a:r>
            <a:r>
              <a:rPr lang="en-US" sz="1400">
                <a:solidFill>
                  <a:srgbClr val="F96167"/>
                </a:solidFill>
                <a:ea typeface="+mn-lt"/>
                <a:cs typeface="+mn-lt"/>
              </a:rPr>
              <a:t> </a:t>
            </a:r>
            <a:r>
              <a:rPr lang="en-US" sz="1400" b="1">
                <a:solidFill>
                  <a:srgbClr val="F96167"/>
                </a:solidFill>
                <a:ea typeface="+mn-lt"/>
                <a:cs typeface="+mn-lt"/>
              </a:rPr>
              <a:t>Real-time Study Session Tracking</a:t>
            </a:r>
            <a:endParaRPr lang="en-US" sz="1400" b="1"/>
          </a:p>
        </p:txBody>
      </p:sp>
      <p:sp>
        <p:nvSpPr>
          <p:cNvPr id="13" name="Text 11"/>
          <p:cNvSpPr/>
          <p:nvPr/>
        </p:nvSpPr>
        <p:spPr>
          <a:xfrm>
            <a:off x="817920" y="3936392"/>
            <a:ext cx="7414716" cy="4455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212121"/>
                </a:solidFill>
              </a:rPr>
              <a:t>Solution</a:t>
            </a:r>
            <a:r>
              <a:rPr lang="en-US" sz="1200">
                <a:solidFill>
                  <a:srgbClr val="212121"/>
                </a:solidFill>
              </a:rPr>
              <a:t>: </a:t>
            </a:r>
            <a:r>
              <a:rPr lang="en-US" sz="1200">
                <a:solidFill>
                  <a:srgbClr val="212121"/>
                </a:solidFill>
                <a:ea typeface="+mn-lt"/>
                <a:cs typeface="+mn-lt"/>
              </a:rPr>
              <a:t>Used Singleton pattern with custom HashMap Implementation to store all user, room, and session data in-memory </a:t>
            </a:r>
            <a:endParaRPr lang="en-US" sz="1200">
              <a:solidFill>
                <a:srgbClr val="212121"/>
              </a:solidFill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3687" y="4380761"/>
            <a:ext cx="74980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>
                <a:solidFill>
                  <a:srgbClr val="3B4CCA"/>
                </a:solidFill>
              </a:rPr>
              <a:t>💡</a:t>
            </a:r>
            <a:r>
              <a:rPr lang="en-US" sz="1100">
                <a:solidFill>
                  <a:srgbClr val="3B4CCA"/>
                </a:solidFill>
                <a:ea typeface="+mn-lt"/>
                <a:cs typeface="+mn-lt"/>
              </a:rPr>
              <a:t>Singleton + custom ADTs can replace database layers for applications</a:t>
            </a:r>
            <a:endParaRPr lang="en-US" sz="1100" err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7. Conclusions &amp; Future Work</a:t>
            </a: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1068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761"/>
                </a:solidFill>
              </a:rPr>
              <a:t>Key Takeaways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76548"/>
            <a:ext cx="3931920" cy="3125931"/>
          </a:xfrm>
          <a:prstGeom prst="rect">
            <a:avLst/>
          </a:prstGeom>
          <a:solidFill>
            <a:srgbClr val="3B4CCA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6489"/>
            <a:ext cx="35661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</a:rPr>
              <a:t>✓ Successfully implemented all the mentioned core features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640080" y="2193105"/>
            <a:ext cx="3548842" cy="5822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</a:rPr>
              <a:t>✓ Successfully implemented custom ADTs and their implementation (Data structures) to improve most O(1) and O(n) operations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622762" y="2871562"/>
            <a:ext cx="35661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</a:rPr>
              <a:t>✓ Gamification significantly improves user engagement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40080" y="3333542"/>
            <a:ext cx="35661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</a:rPr>
              <a:t>✓ JavaFX + Maven enables professional UI development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22762" y="3804181"/>
            <a:ext cx="35661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>
                <a:solidFill>
                  <a:srgbClr val="FFFFFF"/>
                </a:solidFill>
              </a:rPr>
              <a:t>✓ Team collaboration via Git and </a:t>
            </a:r>
            <a:r>
              <a:rPr lang="en-US" sz="1200" err="1">
                <a:solidFill>
                  <a:srgbClr val="FFFFFF"/>
                </a:solidFill>
              </a:rPr>
              <a:t>Github</a:t>
            </a:r>
            <a:r>
              <a:rPr lang="en-US" sz="1200">
                <a:solidFill>
                  <a:srgbClr val="FFFFFF"/>
                </a:solidFill>
              </a:rPr>
              <a:t> for enhanced code quality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754880" y="101068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761"/>
                </a:solidFill>
              </a:rPr>
              <a:t>Future Enhancements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7889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541041"/>
            <a:ext cx="356616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1E2761"/>
                </a:solidFill>
                <a:ea typeface="Calibri"/>
                <a:cs typeface="Calibri"/>
              </a:rPr>
              <a:t>Inviting Friends to Study Room</a:t>
            </a:r>
          </a:p>
        </p:txBody>
      </p:sp>
      <p:sp>
        <p:nvSpPr>
          <p:cNvPr id="13" name="Text 11"/>
          <p:cNvSpPr/>
          <p:nvPr/>
        </p:nvSpPr>
        <p:spPr>
          <a:xfrm>
            <a:off x="4937760" y="1787929"/>
            <a:ext cx="35661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212121"/>
                </a:solidFill>
              </a:rPr>
              <a:t>Sending request and Connecting via Sockets</a:t>
            </a:r>
            <a:endParaRPr lang="en-US" sz="1000" i="1">
              <a:solidFill>
                <a:srgbClr val="212121"/>
              </a:solidFill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2126257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199409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AI Study Buddy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937760" y="2446297"/>
            <a:ext cx="356616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212121"/>
                </a:solidFill>
              </a:rPr>
              <a:t>AI integration for Q&amp;A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754880" y="2784625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857777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Video Chat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937760" y="3104665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212121"/>
                </a:solidFill>
              </a:rPr>
              <a:t>WebRTC for face-to-face study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754880" y="3442993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516145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Custom Themes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937760" y="3763033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212121"/>
                </a:solidFill>
              </a:rPr>
              <a:t>Beyond Pokemon (Marvel, Anime)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754880" y="4101361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4174513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Analytics Dashboard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937760" y="4421401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212121"/>
                </a:solidFill>
              </a:rPr>
              <a:t>Detailed productivity insights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8668"/>
            <a:ext cx="8229600" cy="3524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1E2761"/>
                </a:solidFill>
              </a:rPr>
              <a:t>8. Job Assignments – Team Member Contributions </a:t>
            </a:r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C84DFBD-49B3-C2A3-4D74-D13F25BFA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61126"/>
              </p:ext>
            </p:extLst>
          </p:nvPr>
        </p:nvGraphicFramePr>
        <p:xfrm>
          <a:off x="565612" y="575171"/>
          <a:ext cx="7942491" cy="43335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012281">
                  <a:extLst>
                    <a:ext uri="{9D8B030D-6E8A-4147-A177-3AD203B41FA5}">
                      <a16:colId xmlns:a16="http://schemas.microsoft.com/office/drawing/2014/main" val="450030354"/>
                    </a:ext>
                  </a:extLst>
                </a:gridCol>
                <a:gridCol w="4930210">
                  <a:extLst>
                    <a:ext uri="{9D8B030D-6E8A-4147-A177-3AD203B41FA5}">
                      <a16:colId xmlns:a16="http://schemas.microsoft.com/office/drawing/2014/main" val="2908982695"/>
                    </a:ext>
                  </a:extLst>
                </a:gridCol>
              </a:tblGrid>
              <a:tr h="544667">
                <a:tc>
                  <a:txBody>
                    <a:bodyPr/>
                    <a:lstStyle/>
                    <a:p>
                      <a:r>
                        <a:rPr lang="en-US" sz="140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Contributions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202676"/>
                  </a:ext>
                </a:extLst>
              </a:tr>
              <a:tr h="1239119">
                <a:tc>
                  <a:txBody>
                    <a:bodyPr/>
                    <a:lstStyle/>
                    <a:p>
                      <a:r>
                        <a:rPr lang="en-US" sz="1400" b="1"/>
                        <a:t>Sagar Satra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000" b="0" i="0" u="none" strike="noStrike" noProof="0" err="1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Pokemon</a:t>
                      </a: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 evolution system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Room UI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Trophy collection logic and UI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Notification system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Leaderboard system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ADT (List, Queue, Bag, Sorting)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Data Structure Implementation (</a:t>
                      </a:r>
                      <a:r>
                        <a:rPr lang="en-US" sz="1000" b="0" i="0" u="none" strike="noStrike" noProof="0" err="1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ArrayList</a:t>
                      </a: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, Queue, Resizable Array Bag, Merge Sort)</a:t>
                      </a: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PPT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242335"/>
                  </a:ext>
                </a:extLst>
              </a:tr>
              <a:tr h="12391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Yuxuan Chen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Time tracking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Hashing ADT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HashMap implementation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Room status management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User status management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Room search logic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kern="1200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Room creation logic</a:t>
                      </a:r>
                      <a:endParaRPr lang="en-US" sz="1000" b="0" i="0" u="none" strike="noStrike" kern="1200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850596"/>
                  </a:ext>
                </a:extLst>
              </a:tr>
              <a:tr h="12391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Aditya </a:t>
                      </a:r>
                      <a:r>
                        <a:rPr lang="en-US" sz="1400" b="1" i="0" u="none" strike="noStrike" baseline="0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Yendhe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User management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Room management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Profile UI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Search UI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Lobby UI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Authentication screen</a:t>
                      </a:r>
                      <a:endParaRPr lang="en-US" sz="1000"/>
                    </a:p>
                    <a:p>
                      <a:pPr marL="228600" lvl="0" indent="-228600">
                        <a:buAutoNum type="arabicPeriod"/>
                      </a:pPr>
                      <a:r>
                        <a:rPr lang="en-US" sz="1000" b="0" i="0" u="none" strike="noStrike" noProof="0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Linked List implementation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400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CADCFC"/>
                </a:solidFill>
              </a:rPr>
              <a:t>Questions &amp; Live Demo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i="1" err="1">
                <a:solidFill>
                  <a:srgbClr val="FFCB05"/>
                </a:solidFill>
              </a:rPr>
              <a:t>PokéStudy</a:t>
            </a:r>
            <a:r>
              <a:rPr lang="en-US" sz="1400" i="1">
                <a:solidFill>
                  <a:srgbClr val="FFCB05"/>
                </a:solidFill>
              </a:rPr>
              <a:t> - Gamifying Study Sessions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914400" cy="914400"/>
          </a:xfrm>
          <a:prstGeom prst="ellipse">
            <a:avLst/>
          </a:prstGeom>
          <a:solidFill>
            <a:srgbClr val="FFCB0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3840480"/>
            <a:ext cx="731520" cy="7315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1807</Words>
  <Application>Microsoft Office PowerPoint</Application>
  <PresentationFormat>On-screen Show (16:9)</PresentationFormat>
  <Paragraphs>327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Sagar Jayantilal Satra</cp:lastModifiedBy>
  <cp:revision>86</cp:revision>
  <dcterms:created xsi:type="dcterms:W3CDTF">2026-04-12T23:20:08Z</dcterms:created>
  <dcterms:modified xsi:type="dcterms:W3CDTF">2026-04-14T04:16:43Z</dcterms:modified>
</cp:coreProperties>
</file>